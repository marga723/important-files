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2E01-722C-47BC-8A71-98E0CE89ECE7}" type="datetimeFigureOut">
              <a:rPr lang="en-PH" smtClean="0"/>
              <a:t>23/Nov/2023 08:53:25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2E01-722C-47BC-8A71-98E0CE89ECE7}" type="datetimeFigureOut">
              <a:rPr lang="en-PH" smtClean="0"/>
              <a:t>23/Nov/2023 09:02:21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2E01-722C-47BC-8A71-98E0CE89ECE7}" type="datetimeFigureOut">
              <a:rPr lang="en-PH" smtClean="0"/>
              <a:t>23/Nov/2023 09:02:21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2E01-722C-47BC-8A71-98E0CE89ECE7}" type="datetimeFigureOut">
              <a:rPr lang="en-PH" smtClean="0"/>
              <a:t>23/Nov/2023 09:02:21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2E01-722C-47BC-8A71-98E0CE89ECE7}" type="datetimeFigureOut">
              <a:rPr lang="en-PH" smtClean="0"/>
              <a:t>23/Nov/2023 09:02:21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2E01-722C-47BC-8A71-98E0CE89ECE7}" type="datetimeFigureOut">
              <a:rPr lang="en-PH" smtClean="0"/>
              <a:t>23/Nov/2023 09:02:21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2E01-722C-47BC-8A71-98E0CE89ECE7}" type="datetimeFigureOut">
              <a:rPr lang="en-PH" smtClean="0"/>
              <a:t>23/Nov/2023 09:02:21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2E01-722C-47BC-8A71-98E0CE89ECE7}" type="datetimeFigureOut">
              <a:rPr lang="en-PH" smtClean="0"/>
              <a:t>23/Nov/2023 09:02:21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3E2B2E01-722C-47BC-8A71-98E0CE89ECE7}" type="datetimeFigureOut">
              <a:rPr lang="en-PH" smtClean="0"/>
              <a:t>23/Nov/2023 09:02:21</a:t>
            </a:fld>
            <a:endParaRPr lang="en-PH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2E01-722C-47BC-8A71-98E0CE89ECE7}" type="datetimeFigureOut">
              <a:rPr lang="en-PH" smtClean="0"/>
              <a:t>23/Nov/2023 09:02:21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B2E01-722C-47BC-8A71-98E0CE89ECE7}" type="datetimeFigureOut">
              <a:rPr lang="en-PH" smtClean="0"/>
              <a:t>23/Nov/2023 09:02:21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3E2B2E01-722C-47BC-8A71-98E0CE89ECE7}" type="datetimeFigureOut">
              <a:rPr lang="en-PH" smtClean="0"/>
              <a:t>23/Nov/2023 08:53:25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A08025A0-A2F5-49C1-A668-4D8509A9B239}" type="slidenum">
              <a:rPr lang="en-PH" smtClean="0"/>
              <a:t>‹#›</a:t>
            </a:fld>
            <a:endParaRPr lang="en-P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google.com/search?sca_esv=584857569&amp;q=Gottfried+Wilhelm+Leibniz&amp;stick=H4sIAAAAAAAAAONgVuLQz9U3MDY3KnjEaMwt8PLHPWEprUlrTl5jVOHiCs7IL3fNK8ksqRQS42KDsnikuLjgmngWsUq655eUpBVlpqYohGfmZKTm5Cr4pGYm5WVWAQDMmT8rXgAAAA&amp;sa=X&amp;ved=2ahUKEwiiofTTntqCAxWiyDgGHbwaBmMQzIcDKAB6BAgQEA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3212976"/>
            <a:ext cx="9144000" cy="2304256"/>
          </a:xfrm>
          <a:prstGeom prst="rect">
            <a:avLst/>
          </a:prstGeom>
          <a:solidFill>
            <a:schemeClr val="accent1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60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Showcard Gothic" pitchFamily="82" charset="0"/>
              </a:rPr>
              <a:t>EARLY </a:t>
            </a:r>
            <a:br>
              <a:rPr lang="en-US" sz="60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Showcard Gothic" pitchFamily="82" charset="0"/>
              </a:rPr>
            </a:br>
            <a:r>
              <a:rPr lang="en-US" sz="60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Showcard Gothic" pitchFamily="82" charset="0"/>
              </a:rPr>
              <a:t>COMPUTING DEVICES</a:t>
            </a:r>
            <a:endParaRPr lang="en-PH" sz="600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Showcard Gothic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321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ABACUS</a:t>
            </a:r>
            <a:endParaRPr lang="en-PH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732" y="2107119"/>
            <a:ext cx="5544616" cy="3626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179512" y="2348880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 smtClean="0">
                <a:solidFill>
                  <a:schemeClr val="tx1"/>
                </a:solidFill>
              </a:rPr>
              <a:t>Tim </a:t>
            </a:r>
            <a:r>
              <a:rPr lang="en-PH" dirty="0">
                <a:solidFill>
                  <a:schemeClr val="tx1"/>
                </a:solidFill>
              </a:rPr>
              <a:t>Cranmer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9512" y="3212976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around 2700 to 2300 B.C.E.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79512" y="4077072"/>
            <a:ext cx="2880320" cy="187220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smtClean="0">
                <a:solidFill>
                  <a:schemeClr val="tx1"/>
                </a:solidFill>
              </a:rPr>
              <a:t>Used </a:t>
            </a:r>
            <a:r>
              <a:rPr lang="en-US" sz="1400" dirty="0">
                <a:solidFill>
                  <a:schemeClr val="tx1"/>
                </a:solidFill>
              </a:rPr>
              <a:t>to perform mathematical </a:t>
            </a:r>
            <a:r>
              <a:rPr lang="en-US" sz="1400" dirty="0" smtClean="0">
                <a:solidFill>
                  <a:schemeClr val="tx1"/>
                </a:solidFill>
              </a:rPr>
              <a:t>functions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en-US" sz="1400" dirty="0" smtClean="0">
                <a:solidFill>
                  <a:schemeClr val="tx1"/>
                </a:solidFill>
              </a:rPr>
              <a:t>Addition</a:t>
            </a:r>
          </a:p>
          <a:p>
            <a:pPr marL="285750" indent="-285750">
              <a:buFontTx/>
              <a:buChar char="-"/>
            </a:pPr>
            <a:r>
              <a:rPr lang="en-US" sz="1400" dirty="0" smtClean="0">
                <a:solidFill>
                  <a:schemeClr val="tx1"/>
                </a:solidFill>
              </a:rPr>
              <a:t>Subtraction</a:t>
            </a:r>
          </a:p>
          <a:p>
            <a:pPr marL="285750" indent="-285750">
              <a:buFontTx/>
              <a:buChar char="-"/>
            </a:pPr>
            <a:r>
              <a:rPr lang="en-US" sz="1400" dirty="0" smtClean="0">
                <a:solidFill>
                  <a:schemeClr val="tx1"/>
                </a:solidFill>
              </a:rPr>
              <a:t>Multiplication</a:t>
            </a:r>
          </a:p>
          <a:p>
            <a:pPr marL="285750" indent="-285750">
              <a:buFontTx/>
              <a:buChar char="-"/>
            </a:pPr>
            <a:r>
              <a:rPr lang="en-US" sz="1400" dirty="0" smtClean="0">
                <a:solidFill>
                  <a:schemeClr val="tx1"/>
                </a:solidFill>
              </a:rPr>
              <a:t>Division</a:t>
            </a:r>
            <a:endParaRPr lang="en-PH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801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NAPIER’S BONE</a:t>
            </a:r>
            <a:endParaRPr lang="en-PH" dirty="0"/>
          </a:p>
        </p:txBody>
      </p:sp>
      <p:sp>
        <p:nvSpPr>
          <p:cNvPr id="4" name="Rounded Rectangle 3"/>
          <p:cNvSpPr/>
          <p:nvPr/>
        </p:nvSpPr>
        <p:spPr>
          <a:xfrm>
            <a:off x="395536" y="2564904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 smtClean="0">
                <a:solidFill>
                  <a:schemeClr val="tx1"/>
                </a:solidFill>
              </a:rPr>
              <a:t>John Napier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95536" y="3429000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Napier published his version in 1617.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5536" y="4293096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calculation of products and quotients of numbers.</a:t>
            </a:r>
            <a:endParaRPr lang="en-PH" dirty="0">
              <a:solidFill>
                <a:schemeClr val="tx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182804"/>
            <a:ext cx="5276223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94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PASCALINE</a:t>
            </a:r>
            <a:endParaRPr lang="en-PH" dirty="0"/>
          </a:p>
        </p:txBody>
      </p:sp>
      <p:sp>
        <p:nvSpPr>
          <p:cNvPr id="4" name="Rounded Rectangle 3"/>
          <p:cNvSpPr/>
          <p:nvPr/>
        </p:nvSpPr>
        <p:spPr>
          <a:xfrm>
            <a:off x="251520" y="2708920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 smtClean="0">
                <a:solidFill>
                  <a:schemeClr val="tx1"/>
                </a:solidFill>
              </a:rPr>
              <a:t>Blaise Pascal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1520" y="3573016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 smtClean="0">
                <a:solidFill>
                  <a:schemeClr val="tx1"/>
                </a:solidFill>
              </a:rPr>
              <a:t>Between 1642 </a:t>
            </a:r>
            <a:r>
              <a:rPr lang="en-PH" dirty="0">
                <a:solidFill>
                  <a:schemeClr val="tx1"/>
                </a:solidFill>
              </a:rPr>
              <a:t>and 1644.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520" y="4509120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Addition and Subtraction</a:t>
            </a:r>
            <a:endParaRPr lang="en-PH" dirty="0">
              <a:solidFill>
                <a:schemeClr val="tx1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204864"/>
            <a:ext cx="5459188" cy="34253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94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STEPPED RECKONER  / LAIBRIZ WHEEL</a:t>
            </a:r>
            <a:endParaRPr lang="en-PH" dirty="0"/>
          </a:p>
        </p:txBody>
      </p:sp>
      <p:sp>
        <p:nvSpPr>
          <p:cNvPr id="4" name="Rounded Rectangle 3"/>
          <p:cNvSpPr/>
          <p:nvPr/>
        </p:nvSpPr>
        <p:spPr>
          <a:xfrm>
            <a:off x="179512" y="2636912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  <a:hlinkClick r:id="rId2"/>
              </a:rPr>
              <a:t>Gottfried Wilhelm Leibniz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79512" y="3501008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</a:rPr>
              <a:t>mid-1970s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9512" y="4365104"/>
            <a:ext cx="2880320" cy="94897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calculating the engine of a class of mechanical calculators.</a:t>
            </a:r>
            <a:endParaRPr lang="en-PH" dirty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636912"/>
            <a:ext cx="5266945" cy="329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9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DIFFERENCE ENGINE</a:t>
            </a:r>
            <a:endParaRPr lang="en-PH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276872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Charles Babbage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1560" y="3140968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Year 1821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1560" y="4005064"/>
            <a:ext cx="2880320" cy="15841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prepares numerical tables using a mathematical technique known as the method of difference.</a:t>
            </a:r>
            <a:endParaRPr lang="en-PH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00808"/>
            <a:ext cx="4559806" cy="460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94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ANALYTICAL ENGINE</a:t>
            </a:r>
            <a:endParaRPr lang="en-PH" dirty="0"/>
          </a:p>
        </p:txBody>
      </p:sp>
      <p:sp>
        <p:nvSpPr>
          <p:cNvPr id="4" name="Rounded Rectangle 3"/>
          <p:cNvSpPr/>
          <p:nvPr/>
        </p:nvSpPr>
        <p:spPr>
          <a:xfrm>
            <a:off x="467544" y="2348880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</a:rPr>
              <a:t>Charles Babbage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544" y="3212976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Year 1837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7544" y="4151559"/>
            <a:ext cx="2880320" cy="158169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general-purpose, fully program-controlled, automatic mechanical digital computer.</a:t>
            </a:r>
            <a:endParaRPr lang="en-PH" dirty="0">
              <a:solidFill>
                <a:schemeClr val="tx1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453" y="1700017"/>
            <a:ext cx="4963045" cy="432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94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TABULATING MACHINE</a:t>
            </a:r>
            <a:endParaRPr lang="en-PH" dirty="0"/>
          </a:p>
        </p:txBody>
      </p:sp>
      <p:sp>
        <p:nvSpPr>
          <p:cNvPr id="4" name="Rounded Rectangle 3"/>
          <p:cNvSpPr/>
          <p:nvPr/>
        </p:nvSpPr>
        <p:spPr>
          <a:xfrm>
            <a:off x="611560" y="2204864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</a:rPr>
              <a:t>Herman Hollerith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1560" y="3140968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Year 1890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1560" y="4077072"/>
            <a:ext cx="2880320" cy="10801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assist in summarizing information stored on punched cards.</a:t>
            </a:r>
            <a:endParaRPr lang="en-PH" dirty="0">
              <a:solidFill>
                <a:schemeClr val="tx1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1808820"/>
            <a:ext cx="3686624" cy="42484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94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DIFFERENTIAL ANALYZER</a:t>
            </a:r>
            <a:endParaRPr lang="en-PH" dirty="0"/>
          </a:p>
        </p:txBody>
      </p:sp>
      <p:sp>
        <p:nvSpPr>
          <p:cNvPr id="4" name="Rounded Rectangle 3"/>
          <p:cNvSpPr/>
          <p:nvPr/>
        </p:nvSpPr>
        <p:spPr>
          <a:xfrm>
            <a:off x="395536" y="2420888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</a:rPr>
              <a:t>Vannevar Bush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536" y="3356992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Year </a:t>
            </a:r>
            <a:r>
              <a:rPr lang="en-PH" dirty="0" smtClean="0">
                <a:solidFill>
                  <a:schemeClr val="tx1"/>
                </a:solidFill>
              </a:rPr>
              <a:t>1931</a:t>
            </a:r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95536" y="4221088"/>
            <a:ext cx="2880320" cy="129614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solves differential equations by simulating them on physical components.</a:t>
            </a:r>
            <a:endParaRPr lang="en-PH" dirty="0">
              <a:solidFill>
                <a:schemeClr val="tx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990" y="2060848"/>
            <a:ext cx="4902953" cy="3438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94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 I</a:t>
            </a:r>
            <a:endParaRPr lang="en-PH" dirty="0"/>
          </a:p>
        </p:txBody>
      </p:sp>
      <p:sp>
        <p:nvSpPr>
          <p:cNvPr id="4" name="Rounded Rectangle 3"/>
          <p:cNvSpPr/>
          <p:nvPr/>
        </p:nvSpPr>
        <p:spPr>
          <a:xfrm>
            <a:off x="827584" y="2708920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</a:rPr>
              <a:t>Howard Aiken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84" y="3573016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</a:rPr>
              <a:t>August 7, 1944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84" y="4437112"/>
            <a:ext cx="2880320" cy="72008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dirty="0">
                <a:solidFill>
                  <a:schemeClr val="tx1"/>
                </a:solidFill>
              </a:rPr>
              <a:t> </a:t>
            </a:r>
            <a:r>
              <a:rPr lang="en-PH" dirty="0" smtClean="0">
                <a:solidFill>
                  <a:schemeClr val="tx1"/>
                </a:solidFill>
              </a:rPr>
              <a:t>Calculating </a:t>
            </a:r>
            <a:r>
              <a:rPr lang="en-PH" dirty="0">
                <a:solidFill>
                  <a:schemeClr val="tx1"/>
                </a:solidFill>
              </a:rPr>
              <a:t>massive mathematical tables.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844824"/>
            <a:ext cx="3856062" cy="4154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947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76</TotalTime>
  <Words>139</Words>
  <Application>Microsoft Office PowerPoint</Application>
  <PresentationFormat>On-screen Show (4:3)</PresentationFormat>
  <Paragraphs>41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Module</vt:lpstr>
      <vt:lpstr>EARLY  COMPUTING DEVICES</vt:lpstr>
      <vt:lpstr>ABACUS</vt:lpstr>
      <vt:lpstr>NAPIER’S BONE</vt:lpstr>
      <vt:lpstr>PASCALINE</vt:lpstr>
      <vt:lpstr>STEPPED RECKONER  / LAIBRIZ WHEEL</vt:lpstr>
      <vt:lpstr>DIFFERENCE ENGINE</vt:lpstr>
      <vt:lpstr>ANALYTICAL ENGINE</vt:lpstr>
      <vt:lpstr>TABULATING MACHINE</vt:lpstr>
      <vt:lpstr>DIFFERENTIAL ANALYZER</vt:lpstr>
      <vt:lpstr>MARK I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 COMPUTING DEVICES</dc:title>
  <dc:creator>Windows User</dc:creator>
  <cp:lastModifiedBy>Windows User</cp:lastModifiedBy>
  <cp:revision>7</cp:revision>
  <dcterms:created xsi:type="dcterms:W3CDTF">2023-11-23T12:53:25Z</dcterms:created>
  <dcterms:modified xsi:type="dcterms:W3CDTF">2023-11-23T14:10:19Z</dcterms:modified>
</cp:coreProperties>
</file>
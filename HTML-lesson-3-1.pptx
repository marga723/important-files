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Arimo"/>
      <p:regular r:id="rId52"/>
      <p:bold r:id="rId53"/>
      <p:italic r:id="rId54"/>
      <p:boldItalic r:id="rId55"/>
    </p:embeddedFont>
    <p:embeddedFont>
      <p:font typeface="Arimo SemiBold"/>
      <p:regular r:id="rId56"/>
      <p:bold r:id="rId57"/>
      <p:italic r:id="rId58"/>
      <p:boldItalic r:id="rId59"/>
    </p:embeddedFont>
    <p:embeddedFont>
      <p:font typeface="Arimo Medium"/>
      <p:regular r:id="rId60"/>
      <p:bold r:id="rId61"/>
      <p:italic r:id="rId62"/>
      <p:boldItalic r:id="rId63"/>
    </p:embeddedFont>
    <p:embeddedFont>
      <p:font typeface="Arial Black"/>
      <p:regular r:id="rId64"/>
    </p:embeddedFont>
    <p:embeddedFont>
      <p:font typeface="Azeret Mono Medium"/>
      <p:regular r:id="rId65"/>
      <p:bold r:id="rId66"/>
      <p:italic r:id="rId67"/>
      <p:boldItalic r:id="rId68"/>
    </p:embeddedFont>
    <p:embeddedFont>
      <p:font typeface="Roboto Mono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73" roundtripDataSignature="AMtx7mh2bpathio18/B7MZOgH49YpfAU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1E4016-7432-49A9-8973-2773767D4F26}">
  <a:tblStyle styleId="{201E4016-7432-49A9-8973-2773767D4F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customschemas.google.com/relationships/presentationmetadata" Target="metadata"/><Relationship Id="rId72" Type="http://schemas.openxmlformats.org/officeDocument/2006/relationships/font" Target="fonts/RobotoMono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Mono-italic.fntdata"/><Relationship Id="rId70" Type="http://schemas.openxmlformats.org/officeDocument/2006/relationships/font" Target="fonts/RobotoMono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ArimoMedium-italic.fntdata"/><Relationship Id="rId61" Type="http://schemas.openxmlformats.org/officeDocument/2006/relationships/font" Target="fonts/ArimoMedium-bold.fntdata"/><Relationship Id="rId20" Type="http://schemas.openxmlformats.org/officeDocument/2006/relationships/slide" Target="slides/slide14.xml"/><Relationship Id="rId64" Type="http://schemas.openxmlformats.org/officeDocument/2006/relationships/font" Target="fonts/ArialBlack-regular.fntdata"/><Relationship Id="rId63" Type="http://schemas.openxmlformats.org/officeDocument/2006/relationships/font" Target="fonts/ArimoMedium-boldItalic.fntdata"/><Relationship Id="rId22" Type="http://schemas.openxmlformats.org/officeDocument/2006/relationships/slide" Target="slides/slide16.xml"/><Relationship Id="rId66" Type="http://schemas.openxmlformats.org/officeDocument/2006/relationships/font" Target="fonts/AzeretMonoMedium-bold.fntdata"/><Relationship Id="rId21" Type="http://schemas.openxmlformats.org/officeDocument/2006/relationships/slide" Target="slides/slide15.xml"/><Relationship Id="rId65" Type="http://schemas.openxmlformats.org/officeDocument/2006/relationships/font" Target="fonts/AzeretMonoMedium-regular.fntdata"/><Relationship Id="rId24" Type="http://schemas.openxmlformats.org/officeDocument/2006/relationships/slide" Target="slides/slide18.xml"/><Relationship Id="rId68" Type="http://schemas.openxmlformats.org/officeDocument/2006/relationships/font" Target="fonts/AzeretMonoMedium-boldItalic.fntdata"/><Relationship Id="rId23" Type="http://schemas.openxmlformats.org/officeDocument/2006/relationships/slide" Target="slides/slide17.xml"/><Relationship Id="rId67" Type="http://schemas.openxmlformats.org/officeDocument/2006/relationships/font" Target="fonts/AzeretMonoMedium-italic.fntdata"/><Relationship Id="rId60" Type="http://schemas.openxmlformats.org/officeDocument/2006/relationships/font" Target="fonts/ArimoMedium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Mon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Arimo-bold.fntdata"/><Relationship Id="rId52" Type="http://schemas.openxmlformats.org/officeDocument/2006/relationships/font" Target="fonts/Arimo-regular.fntdata"/><Relationship Id="rId11" Type="http://schemas.openxmlformats.org/officeDocument/2006/relationships/slide" Target="slides/slide5.xml"/><Relationship Id="rId55" Type="http://schemas.openxmlformats.org/officeDocument/2006/relationships/font" Target="fonts/Arimo-boldItalic.fntdata"/><Relationship Id="rId10" Type="http://schemas.openxmlformats.org/officeDocument/2006/relationships/slide" Target="slides/slide4.xml"/><Relationship Id="rId54" Type="http://schemas.openxmlformats.org/officeDocument/2006/relationships/font" Target="fonts/Arimo-italic.fntdata"/><Relationship Id="rId13" Type="http://schemas.openxmlformats.org/officeDocument/2006/relationships/slide" Target="slides/slide7.xml"/><Relationship Id="rId57" Type="http://schemas.openxmlformats.org/officeDocument/2006/relationships/font" Target="fonts/ArimoSemiBold-bold.fntdata"/><Relationship Id="rId12" Type="http://schemas.openxmlformats.org/officeDocument/2006/relationships/slide" Target="slides/slide6.xml"/><Relationship Id="rId56" Type="http://schemas.openxmlformats.org/officeDocument/2006/relationships/font" Target="fonts/ArimoSemiBold-regular.fntdata"/><Relationship Id="rId15" Type="http://schemas.openxmlformats.org/officeDocument/2006/relationships/slide" Target="slides/slide9.xml"/><Relationship Id="rId59" Type="http://schemas.openxmlformats.org/officeDocument/2006/relationships/font" Target="fonts/ArimoSemiBold-boldItalic.fntdata"/><Relationship Id="rId14" Type="http://schemas.openxmlformats.org/officeDocument/2006/relationships/slide" Target="slides/slide8.xml"/><Relationship Id="rId58" Type="http://schemas.openxmlformats.org/officeDocument/2006/relationships/font" Target="fonts/ArimoSemiBold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baa5e1e1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abaa5e1e1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baa5e1e1e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abaa5e1e1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baa5e1e1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abaa5e1e1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baa5e1e1e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baa5e1e1e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baa5e1e1e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abaa5e1e1e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baa5e1e1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abaa5e1e1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baa5e1e1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baa5e1e1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baa5e1e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baa5e1e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baa5e1e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baa5e1e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baa5e1e1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abaa5e1e1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baa5e1e1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abaa5e1e1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baa5e1e1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abaa5e1e1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abaa5e1e1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abaa5e1e1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baa5e1e1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baa5e1e1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baa5e1e1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abaa5e1e1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baa5e1e1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abaa5e1e1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abaa5e1e1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abaa5e1e1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baa5e1e1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abaa5e1e1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abaa5e1e1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abaa5e1e1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baa5e1e1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abaa5e1e1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abaa5e1e1e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abaa5e1e1e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baa5e1e1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abaa5e1e1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abaa5e1e1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abaa5e1e1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baa5e1e1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abaa5e1e1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baa5e1e1e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abaa5e1e1e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baa5e1e1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abaa5e1e1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baa5e1e1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abaa5e1e1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baa5e1e1e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abaa5e1e1e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baa5e1e1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abaa5e1e1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baa5e1e1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abaa5e1e1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abaa5e1e1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abaa5e1e1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baa5e1e1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abaa5e1e1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baa5e1e1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abaa5e1e1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abaa5e1e1e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abaa5e1e1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abaa5e1e1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abaa5e1e1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abaa5e1e1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abaa5e1e1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abaa5e1e1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abaa5e1e1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0"/>
          <p:cNvPicPr preferRelativeResize="0"/>
          <p:nvPr/>
        </p:nvPicPr>
        <p:blipFill rotWithShape="1">
          <a:blip r:embed="rId2">
            <a:alphaModFix amt="60000"/>
          </a:blip>
          <a:srcRect b="4815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10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10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0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0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19" name="Google Shape;19;p11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0" name="Google Shape;20;p11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1" name="Google Shape;21;p11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2" name="Google Shape;22;p11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3" name="Google Shape;23;p11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1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7" name="Google Shape;27;p11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8" name="Google Shape;28;p11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9" name="Google Shape;29;p11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0" name="Google Shape;30;p11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1" name="Google Shape;31;p11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2" name="Google Shape;32;p11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3" name="Google Shape;33;p11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4" name="Google Shape;34;p11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5" name="Google Shape;35;p11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6" name="Google Shape;36;p11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7" name="Google Shape;37;p11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8" name="Google Shape;38;p11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9" name="Google Shape;39;p11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42" name="Google Shape;42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12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3"/>
          <p:cNvPicPr preferRelativeResize="0"/>
          <p:nvPr/>
        </p:nvPicPr>
        <p:blipFill rotWithShape="1">
          <a:blip r:embed="rId2">
            <a:alphaModFix amt="10000"/>
          </a:blip>
          <a:srcRect b="720" l="1068" r="19" t="591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47" name="Google Shape;47;p13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14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9pPr>
          </a:lstStyle>
          <a:p/>
        </p:txBody>
      </p:sp>
      <p:sp>
        <p:nvSpPr>
          <p:cNvPr id="56" name="Google Shape;56;p14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9pPr>
          </a:lstStyle>
          <a:p/>
        </p:txBody>
      </p:sp>
      <p:sp>
        <p:nvSpPr>
          <p:cNvPr id="57" name="Google Shape;57;p14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9pPr>
          </a:lstStyle>
          <a:p/>
        </p:txBody>
      </p:sp>
      <p:sp>
        <p:nvSpPr>
          <p:cNvPr id="59" name="Google Shape;59;p14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/>
            </a:lvl9pPr>
          </a:lstStyle>
          <a:p/>
        </p:txBody>
      </p:sp>
      <p:sp>
        <p:nvSpPr>
          <p:cNvPr id="60" name="Google Shape;60;p14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5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6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8" name="Google Shape;78;p16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16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16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16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91" name="Google Shape;91;p17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92" name="Google Shape;92;p17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0" name="Google Shape;100;p18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01" name="Google Shape;101;p18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0" name="Google Shape;110;p19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4" name="Google Shape;114;p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2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18" name="Google Shape;118;p20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19" name="Google Shape;119;p20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0" name="Google Shape;120;p20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21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21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2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7" name="Google Shape;127;p21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21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0" name="Google Shape;130;p21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1" name="Google Shape;131;p21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2" name="Google Shape;132;p21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21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21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37" name="Google Shape;137;p22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38" name="Google Shape;138;p22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39" name="Google Shape;139;p22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40" name="Google Shape;140;p22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2" name="Google Shape;142;p22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22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0" spcFirstLastPara="1" rIns="18287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0" spcFirstLastPara="1" rIns="18287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9" name="Google Shape;149;p22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0" spcFirstLastPara="1" rIns="18287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23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56" name="Google Shape;156;p23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57" name="Google Shape;157;p23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58" name="Google Shape;158;p23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59" name="Google Shape;159;p23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2" name="Google Shape;162;p23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24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0" name="Google Shape;170;p25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71" name="Google Shape;171;p25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72" name="Google Shape;172;p25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73" name="Google Shape;173;p25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74" name="Google Shape;174;p25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25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25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79" name="Google Shape;179;p25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81" name="Google Shape;181;p2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3" name="Google Shape;183;p25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9" name="Google Shape;189;p26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5" name="Google Shape;195;p27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7" name="Google Shape;197;p27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198" name="Google Shape;198;p27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199" name="Google Shape;199;p27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00" name="Google Shape;200;p27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01" name="Google Shape;201;p27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02" name="Google Shape;202;p27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03" name="Google Shape;203;p27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05" name="Google Shape;205;p27"/>
          <p:cNvCxnSpPr>
            <a:stCxn id="203" idx="1"/>
            <a:endCxn id="203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27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7" name="Google Shape;207;p27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3" name="Google Shape;213;p27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4" name="Google Shape;214;p27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5" name="Google Shape;215;p27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6" name="Google Shape;216;p27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7" name="Google Shape;217;p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27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21" name="Google Shape;221;p28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22" name="Google Shape;222;p28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3" name="Google Shape;223;p28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24" name="Google Shape;224;p28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8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26" name="Google Shape;226;p2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27" name="Google Shape;227;p28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8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  <a:defRPr b="0" i="0" sz="7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32" name="Google Shape;232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0" name="Google Shape;240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1" name="Google Shape;241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51" name="Google Shape;251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/>
        </p:txBody>
      </p:sp>
      <p:sp>
        <p:nvSpPr>
          <p:cNvPr id="257" name="Google Shape;257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" name="Google Shape;269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0" name="Google Shape;270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4" name="Google Shape;274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5" name="Google Shape;275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" name="Google Shape;276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9" name="Google Shape;279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" name="Google Shape;280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81" name="Google Shape;281;p4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4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4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4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9" name="Google Shape;289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0" name="Google Shape;290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7" name="Google Shape;297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0" name="Google Shape;300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3" name="Google Shape;30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4" name="Google Shape;304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5" name="Google Shape;305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1" name="Google Shape;311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4" name="Google Shape;314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5" name="Google Shape;315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6" name="Google Shape;316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7" name="Google Shape;327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b="0" i="0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b="0" i="0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b="0" i="0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b="0" i="0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b="0" i="0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b="0" i="0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b="0" i="0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b="0" i="0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b="0" i="0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"/>
          <p:cNvSpPr txBox="1"/>
          <p:nvPr>
            <p:ph type="title"/>
          </p:nvPr>
        </p:nvSpPr>
        <p:spPr>
          <a:xfrm>
            <a:off x="608204" y="1118550"/>
            <a:ext cx="7306500" cy="14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5400"/>
              <a:t>HTML Lists, Images, and Links </a:t>
            </a:r>
            <a:endParaRPr sz="54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35" name="Google Shape;3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414997">
            <a:off x="6984569" y="412670"/>
            <a:ext cx="1388136" cy="1388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ML - Wikipedia" id="336" name="Google Shape;33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2671" y="2051417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Quarter</a:t>
            </a:r>
            <a:endParaRPr/>
          </a:p>
        </p:txBody>
      </p:sp>
      <p:sp>
        <p:nvSpPr>
          <p:cNvPr id="342" name="Google Shape;342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Date</a:t>
            </a:r>
            <a:endParaRPr/>
          </a:p>
        </p:txBody>
      </p:sp>
      <p:sp>
        <p:nvSpPr>
          <p:cNvPr id="343" name="Google Shape;343;p2"/>
          <p:cNvSpPr txBox="1"/>
          <p:nvPr>
            <p:ph type="title"/>
          </p:nvPr>
        </p:nvSpPr>
        <p:spPr>
          <a:xfrm>
            <a:off x="918526" y="853534"/>
            <a:ext cx="76311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This lesson introduces students to three important HTML elements used in almost every website:</a:t>
            </a:r>
            <a:endParaRPr sz="2800"/>
          </a:p>
        </p:txBody>
      </p:sp>
      <p:pic>
        <p:nvPicPr>
          <p:cNvPr id="344" name="Google Shape;3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972426">
            <a:off x="7569951" y="3239825"/>
            <a:ext cx="1475725" cy="147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"/>
          <p:cNvSpPr txBox="1"/>
          <p:nvPr/>
        </p:nvSpPr>
        <p:spPr>
          <a:xfrm>
            <a:off x="918526" y="2206736"/>
            <a:ext cx="5970901" cy="1107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Hyperlinks (Links)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Quarter</a:t>
            </a:r>
            <a:endParaRPr/>
          </a:p>
        </p:txBody>
      </p:sp>
      <p:sp>
        <p:nvSpPr>
          <p:cNvPr id="351" name="Google Shape;351;p3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Date</a:t>
            </a:r>
            <a:endParaRPr/>
          </a:p>
        </p:txBody>
      </p:sp>
      <p:sp>
        <p:nvSpPr>
          <p:cNvPr id="352" name="Google Shape;352;p3"/>
          <p:cNvSpPr txBox="1"/>
          <p:nvPr>
            <p:ph type="title"/>
          </p:nvPr>
        </p:nvSpPr>
        <p:spPr>
          <a:xfrm>
            <a:off x="756450" y="251328"/>
            <a:ext cx="76311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/>
              <a:t>HTML Lists</a:t>
            </a:r>
            <a:endParaRPr sz="4600"/>
          </a:p>
        </p:txBody>
      </p:sp>
      <p:pic>
        <p:nvPicPr>
          <p:cNvPr id="353" name="Google Shape;3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972426">
            <a:off x="7637236" y="383326"/>
            <a:ext cx="1475725" cy="147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"/>
          <p:cNvSpPr txBox="1"/>
          <p:nvPr/>
        </p:nvSpPr>
        <p:spPr>
          <a:xfrm>
            <a:off x="689165" y="1272418"/>
            <a:ext cx="6704164" cy="7632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provides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types of lists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400" u="none" cap="none" strike="noStrike">
              <a:solidFill>
                <a:schemeClr val="lt1"/>
              </a:solidFill>
              <a:latin typeface="Azeret Mono Medium"/>
              <a:ea typeface="Azeret Mono Medium"/>
              <a:cs typeface="Azeret Mono Medium"/>
              <a:sym typeface="Azeret Mono Medium"/>
            </a:endParaRPr>
          </a:p>
        </p:txBody>
      </p:sp>
      <p:sp>
        <p:nvSpPr>
          <p:cNvPr id="355" name="Google Shape;355;p3"/>
          <p:cNvSpPr txBox="1"/>
          <p:nvPr/>
        </p:nvSpPr>
        <p:spPr>
          <a:xfrm>
            <a:off x="689165" y="2136864"/>
            <a:ext cx="471319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Unordered List (Bulleted List)</a:t>
            </a:r>
            <a:endParaRPr/>
          </a:p>
        </p:txBody>
      </p:sp>
      <p:pic>
        <p:nvPicPr>
          <p:cNvPr id="356" name="Google Shape;35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4678" y="1996980"/>
            <a:ext cx="3869175" cy="256377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"/>
          <p:cNvSpPr txBox="1"/>
          <p:nvPr/>
        </p:nvSpPr>
        <p:spPr>
          <a:xfrm>
            <a:off x="2517961" y="3278865"/>
            <a:ext cx="471319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will show: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Apple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Banana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"/>
          <p:cNvSpPr txBox="1"/>
          <p:nvPr/>
        </p:nvSpPr>
        <p:spPr>
          <a:xfrm>
            <a:off x="801625" y="133500"/>
            <a:ext cx="7707300" cy="8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Ordered List (Numbered List)</a:t>
            </a:r>
            <a:endParaRPr b="1" i="0" sz="4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3" name="Google Shape;363;p4"/>
          <p:cNvSpPr txBox="1"/>
          <p:nvPr/>
        </p:nvSpPr>
        <p:spPr>
          <a:xfrm>
            <a:off x="497843" y="933689"/>
            <a:ext cx="8011082" cy="9048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the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&lt;ol&gt;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 (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rdered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ist).</a:t>
            </a:r>
            <a:endParaRPr b="0" i="0" sz="2400" u="none" cap="none" strike="noStrike">
              <a:solidFill>
                <a:schemeClr val="lt1"/>
              </a:solidFill>
              <a:latin typeface="Azeret Mono Medium"/>
              <a:ea typeface="Azeret Mono Medium"/>
              <a:cs typeface="Azeret Mono Medium"/>
              <a:sym typeface="Azeret Mono Medium"/>
            </a:endParaRPr>
          </a:p>
        </p:txBody>
      </p:sp>
      <p:sp>
        <p:nvSpPr>
          <p:cNvPr id="364" name="Google Shape;364;p4"/>
          <p:cNvSpPr txBox="1"/>
          <p:nvPr/>
        </p:nvSpPr>
        <p:spPr>
          <a:xfrm>
            <a:off x="497843" y="1838522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pic>
        <p:nvPicPr>
          <p:cNvPr id="365" name="Google Shape;3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3092" y="1504767"/>
            <a:ext cx="3735833" cy="333195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"/>
          <p:cNvSpPr txBox="1"/>
          <p:nvPr/>
        </p:nvSpPr>
        <p:spPr>
          <a:xfrm>
            <a:off x="2595283" y="3496553"/>
            <a:ext cx="4572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will show: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Step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Step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Third Step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"/>
          <p:cNvSpPr txBox="1"/>
          <p:nvPr/>
        </p:nvSpPr>
        <p:spPr>
          <a:xfrm>
            <a:off x="151250" y="277500"/>
            <a:ext cx="65235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List (Definition List)</a:t>
            </a:r>
            <a:endParaRPr b="1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72" name="Google Shape;372;p5" title="image-removebg-preview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075" y="110450"/>
            <a:ext cx="33147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"/>
          <p:cNvSpPr txBox="1"/>
          <p:nvPr/>
        </p:nvSpPr>
        <p:spPr>
          <a:xfrm>
            <a:off x="336177" y="1059973"/>
            <a:ext cx="457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for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terms and definitions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pic>
        <p:nvPicPr>
          <p:cNvPr id="374" name="Google Shape;3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8291" y="1873253"/>
            <a:ext cx="5529013" cy="2686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"/>
          <p:cNvSpPr txBox="1"/>
          <p:nvPr/>
        </p:nvSpPr>
        <p:spPr>
          <a:xfrm>
            <a:off x="151250" y="277500"/>
            <a:ext cx="6523500" cy="8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Images</a:t>
            </a:r>
            <a:endParaRPr b="1" i="0" sz="4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80" name="Google Shape;380;p6" title="image-removebg-preview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075" y="110450"/>
            <a:ext cx="33147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6"/>
          <p:cNvSpPr txBox="1"/>
          <p:nvPr/>
        </p:nvSpPr>
        <p:spPr>
          <a:xfrm>
            <a:off x="210225" y="1179428"/>
            <a:ext cx="8011082" cy="1723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mages are inserted using the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&lt;img&gt;</a:t>
            </a: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requires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important attributes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location of the image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text shown if the image fails to load</a:t>
            </a:r>
            <a:endParaRPr/>
          </a:p>
        </p:txBody>
      </p:sp>
      <p:pic>
        <p:nvPicPr>
          <p:cNvPr id="382" name="Google Shape;3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206" y="3004685"/>
            <a:ext cx="6715120" cy="1257299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6"/>
          <p:cNvSpPr txBox="1"/>
          <p:nvPr/>
        </p:nvSpPr>
        <p:spPr>
          <a:xfrm>
            <a:off x="648821" y="4448275"/>
            <a:ext cx="497025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Attributes like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resize the image.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"/>
          <p:cNvSpPr txBox="1"/>
          <p:nvPr>
            <p:ph type="title"/>
          </p:nvPr>
        </p:nvSpPr>
        <p:spPr>
          <a:xfrm>
            <a:off x="277500" y="64000"/>
            <a:ext cx="88665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/>
              <a:t>HTML Hyperlinks (Links)</a:t>
            </a:r>
            <a:endParaRPr sz="3800"/>
          </a:p>
        </p:txBody>
      </p:sp>
      <p:sp>
        <p:nvSpPr>
          <p:cNvPr id="389" name="Google Shape;389;p7"/>
          <p:cNvSpPr txBox="1"/>
          <p:nvPr/>
        </p:nvSpPr>
        <p:spPr>
          <a:xfrm>
            <a:off x="396689" y="1116859"/>
            <a:ext cx="45854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Links use the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&lt;a&gt;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tag (anchor).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32755"/>
            <a:ext cx="4772340" cy="1389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350271"/>
            <a:ext cx="4658375" cy="135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7063" y="1585482"/>
            <a:ext cx="3877216" cy="1495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2340" y="3350271"/>
            <a:ext cx="4572638" cy="1552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9" name="Google Shape;399;p8"/>
          <p:cNvSpPr txBox="1"/>
          <p:nvPr>
            <p:ph type="title"/>
          </p:nvPr>
        </p:nvSpPr>
        <p:spPr>
          <a:xfrm>
            <a:off x="483906" y="-191758"/>
            <a:ext cx="88410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 of Lesson 3</a:t>
            </a:r>
            <a:b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4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0" name="Google Shape;400;p8"/>
          <p:cNvGraphicFramePr/>
          <p:nvPr/>
        </p:nvGraphicFramePr>
        <p:xfrm>
          <a:off x="1419552" y="13043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{201E4016-7432-49A9-8973-2773767D4F26}</a:tableStyleId>
              </a:tblPr>
              <a:tblGrid>
                <a:gridCol w="2101625"/>
                <a:gridCol w="2101625"/>
                <a:gridCol w="2101625"/>
              </a:tblGrid>
              <a:tr h="40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Topic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Tags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Purpose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Lists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&lt;ul&gt;</a:t>
                      </a:r>
                      <a:r>
                        <a:rPr lang="en-US" sz="1400" u="none" cap="none" strike="noStrike"/>
                        <a:t>, </a:t>
                      </a:r>
                      <a:r>
                        <a:rPr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&lt;ol&gt;</a:t>
                      </a:r>
                      <a:r>
                        <a:rPr lang="en-US" sz="1400" u="none" cap="none" strike="noStrike"/>
                        <a:t>, </a:t>
                      </a:r>
                      <a:r>
                        <a:rPr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&lt;li&gt;</a:t>
                      </a:r>
                      <a:r>
                        <a:rPr lang="en-US" sz="1400" u="none" cap="none" strike="noStrike"/>
                        <a:t>, </a:t>
                      </a:r>
                      <a:r>
                        <a:rPr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&lt;dl&gt;</a:t>
                      </a:r>
                      <a:r>
                        <a:rPr lang="en-US" sz="1400" u="none" cap="none" strike="noStrike"/>
                        <a:t>, </a:t>
                      </a:r>
                      <a:r>
                        <a:rPr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&lt;dt&gt;</a:t>
                      </a:r>
                      <a:r>
                        <a:rPr lang="en-US" sz="1400" u="none" cap="none" strike="noStrike"/>
                        <a:t>, </a:t>
                      </a:r>
                      <a:r>
                        <a:rPr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&lt;dd&gt;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Organizing content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Images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&lt;img&gt;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Display pictures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Links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&lt;a&gt;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Navigation and connectivity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baa5e1e1e_0_178"/>
          <p:cNvSpPr txBox="1"/>
          <p:nvPr>
            <p:ph type="title"/>
          </p:nvPr>
        </p:nvSpPr>
        <p:spPr>
          <a:xfrm>
            <a:off x="625375" y="-1974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TABLES </a:t>
            </a:r>
            <a:endParaRPr/>
          </a:p>
        </p:txBody>
      </p:sp>
      <p:sp>
        <p:nvSpPr>
          <p:cNvPr id="406" name="Google Shape;406;g3abaa5e1e1e_0_178"/>
          <p:cNvSpPr txBox="1"/>
          <p:nvPr/>
        </p:nvSpPr>
        <p:spPr>
          <a:xfrm>
            <a:off x="754850" y="1805650"/>
            <a:ext cx="6718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Tables in HTML are used to display data in rows and columns.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They help organize information (like schedules, prices, grades, etc.)</a:t>
            </a:r>
            <a:endParaRPr b="1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baa5e1e1e_0_230"/>
          <p:cNvSpPr txBox="1"/>
          <p:nvPr>
            <p:ph type="title"/>
          </p:nvPr>
        </p:nvSpPr>
        <p:spPr>
          <a:xfrm>
            <a:off x="537600" y="-39170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TABLES</a:t>
            </a:r>
            <a:endParaRPr/>
          </a:p>
        </p:txBody>
      </p:sp>
      <p:pic>
        <p:nvPicPr>
          <p:cNvPr id="412" name="Google Shape;412;g3abaa5e1e1e_0_2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350" y="1797450"/>
            <a:ext cx="6616201" cy="26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baa5e1e1e_0_186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-US" sz="2400"/>
              <a:t>Example in real life: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/>
              <a:t>Class schedules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/>
              <a:t>Price lists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/>
              <a:t>Attendance sheets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/>
              <a:t>Leaderboards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baa5e1e1e_0_191"/>
          <p:cNvSpPr txBox="1"/>
          <p:nvPr>
            <p:ph type="title"/>
          </p:nvPr>
        </p:nvSpPr>
        <p:spPr>
          <a:xfrm>
            <a:off x="544450" y="0"/>
            <a:ext cx="55368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Table Structure Essential Tags</a:t>
            </a:r>
            <a:endParaRPr/>
          </a:p>
        </p:txBody>
      </p:sp>
      <p:pic>
        <p:nvPicPr>
          <p:cNvPr id="423" name="Google Shape;423;g3abaa5e1e1e_0_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400" y="2055025"/>
            <a:ext cx="5265275" cy="25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baa5e1e1e_0_198"/>
          <p:cNvSpPr txBox="1"/>
          <p:nvPr>
            <p:ph type="title"/>
          </p:nvPr>
        </p:nvSpPr>
        <p:spPr>
          <a:xfrm>
            <a:off x="414875" y="-595625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Example</a:t>
            </a:r>
            <a:endParaRPr/>
          </a:p>
        </p:txBody>
      </p:sp>
      <p:pic>
        <p:nvPicPr>
          <p:cNvPr id="429" name="Google Shape;429;g3abaa5e1e1e_0_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975" y="487375"/>
            <a:ext cx="4067175" cy="43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baa5e1e1e_0_205"/>
          <p:cNvSpPr txBox="1"/>
          <p:nvPr>
            <p:ph type="title"/>
          </p:nvPr>
        </p:nvSpPr>
        <p:spPr>
          <a:xfrm>
            <a:off x="408125" y="-595625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Table With </a:t>
            </a:r>
            <a:r>
              <a:rPr b="1" lang="en-US" sz="2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colspan</a:t>
            </a:r>
            <a:endParaRPr b="1" sz="5600"/>
          </a:p>
        </p:txBody>
      </p:sp>
      <p:pic>
        <p:nvPicPr>
          <p:cNvPr id="435" name="Google Shape;435;g3abaa5e1e1e_0_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9350" y="1507325"/>
            <a:ext cx="4171933" cy="30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baa5e1e1e_0_211"/>
          <p:cNvSpPr txBox="1"/>
          <p:nvPr>
            <p:ph type="title"/>
          </p:nvPr>
        </p:nvSpPr>
        <p:spPr>
          <a:xfrm>
            <a:off x="277825" y="-4240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Table With </a:t>
            </a:r>
            <a:r>
              <a:rPr b="1"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rowspan</a:t>
            </a:r>
            <a:endParaRPr b="1" sz="2800"/>
          </a:p>
        </p:txBody>
      </p:sp>
      <p:pic>
        <p:nvPicPr>
          <p:cNvPr id="441" name="Google Shape;441;g3abaa5e1e1e_0_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8675" y="1322850"/>
            <a:ext cx="3705231" cy="29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baa5e1e1e_0_0"/>
          <p:cNvSpPr txBox="1"/>
          <p:nvPr>
            <p:ph type="title"/>
          </p:nvPr>
        </p:nvSpPr>
        <p:spPr>
          <a:xfrm>
            <a:off x="1633650" y="824850"/>
            <a:ext cx="4970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What is CSS?</a:t>
            </a:r>
            <a:endParaRPr sz="5200"/>
          </a:p>
        </p:txBody>
      </p:sp>
      <p:pic>
        <p:nvPicPr>
          <p:cNvPr id="447" name="Google Shape;447;g3abaa5e1e1e_0_0" title="image-removebg-preview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3650" y="207525"/>
            <a:ext cx="331470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baa5e1e1e_0_6"/>
          <p:cNvSpPr txBox="1"/>
          <p:nvPr>
            <p:ph type="title"/>
          </p:nvPr>
        </p:nvSpPr>
        <p:spPr>
          <a:xfrm>
            <a:off x="402900" y="1566600"/>
            <a:ext cx="87411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CSS is the language used to style and layout web pages—controlling colors, fonts, spacing, positioning, animations, and more.</a:t>
            </a:r>
            <a:endParaRPr sz="3200"/>
          </a:p>
        </p:txBody>
      </p:sp>
      <p:sp>
        <p:nvSpPr>
          <p:cNvPr id="453" name="Google Shape;453;g3abaa5e1e1e_0_6"/>
          <p:cNvSpPr txBox="1"/>
          <p:nvPr>
            <p:ph type="title"/>
          </p:nvPr>
        </p:nvSpPr>
        <p:spPr>
          <a:xfrm>
            <a:off x="775875" y="-180300"/>
            <a:ext cx="4970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What is CSS?</a:t>
            </a:r>
            <a:endParaRPr sz="5200"/>
          </a:p>
        </p:txBody>
      </p:sp>
      <p:pic>
        <p:nvPicPr>
          <p:cNvPr id="454" name="Google Shape;454;g3abaa5e1e1e_0_6" title="image-removebg-preview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5100" y="142775"/>
            <a:ext cx="331470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baa5e1e1e_0_31"/>
          <p:cNvSpPr txBox="1"/>
          <p:nvPr>
            <p:ph type="title"/>
          </p:nvPr>
        </p:nvSpPr>
        <p:spPr>
          <a:xfrm>
            <a:off x="738675" y="339660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-US" sz="1600"/>
              <a:t>It controls: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/>
              <a:t>Colors</a:t>
            </a:r>
            <a:br>
              <a:rPr b="1" lang="en-US" sz="1600"/>
            </a:b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/>
              <a:t>Fonts</a:t>
            </a:r>
            <a:br>
              <a:rPr b="1" lang="en-US" sz="1600"/>
            </a:b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/>
              <a:t>Layout</a:t>
            </a:r>
            <a:br>
              <a:rPr b="1" lang="en-US" sz="1600"/>
            </a:b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/>
              <a:t>Spacing</a:t>
            </a:r>
            <a:br>
              <a:rPr b="1" lang="en-US" sz="1600"/>
            </a:b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/>
              <a:t>Animations</a:t>
            </a:r>
            <a:br>
              <a:rPr b="1" lang="en-US" sz="1600"/>
            </a:b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/>
              <a:t>Responsive design</a:t>
            </a:r>
            <a:br>
              <a:rPr b="1" lang="en-US" sz="1600"/>
            </a:b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460" name="Google Shape;460;g3abaa5e1e1e_0_31"/>
          <p:cNvSpPr txBox="1"/>
          <p:nvPr>
            <p:ph type="title"/>
          </p:nvPr>
        </p:nvSpPr>
        <p:spPr>
          <a:xfrm>
            <a:off x="3855350" y="-78980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CSS controls</a:t>
            </a:r>
            <a:endParaRPr sz="6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baa5e1e1e_0_13"/>
          <p:cNvSpPr txBox="1"/>
          <p:nvPr>
            <p:ph type="title"/>
          </p:nvPr>
        </p:nvSpPr>
        <p:spPr>
          <a:xfrm>
            <a:off x="537600" y="277825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-US" sz="3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CSS Example</a:t>
            </a:r>
            <a:endParaRPr b="1" sz="3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6400"/>
          </a:p>
        </p:txBody>
      </p:sp>
      <p:pic>
        <p:nvPicPr>
          <p:cNvPr id="466" name="Google Shape;466;g3abaa5e1e1e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550" y="1340350"/>
            <a:ext cx="4941600" cy="24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baa5e1e1e_0_19"/>
          <p:cNvSpPr txBox="1"/>
          <p:nvPr>
            <p:ph type="title"/>
          </p:nvPr>
        </p:nvSpPr>
        <p:spPr>
          <a:xfrm>
            <a:off x="560625" y="-680750"/>
            <a:ext cx="51645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How CSS Is Applied</a:t>
            </a:r>
            <a:endParaRPr sz="4300"/>
          </a:p>
        </p:txBody>
      </p:sp>
      <p:sp>
        <p:nvSpPr>
          <p:cNvPr id="472" name="Google Shape;472;g3abaa5e1e1e_0_19"/>
          <p:cNvSpPr txBox="1"/>
          <p:nvPr/>
        </p:nvSpPr>
        <p:spPr>
          <a:xfrm>
            <a:off x="825400" y="1664975"/>
            <a:ext cx="59517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b="1" lang="en-US" sz="2000">
                <a:solidFill>
                  <a:schemeClr val="lt1"/>
                </a:solidFill>
              </a:rPr>
              <a:t>Inline</a:t>
            </a:r>
            <a:r>
              <a:rPr lang="en-US" sz="2000">
                <a:solidFill>
                  <a:schemeClr val="lt1"/>
                </a:solidFill>
              </a:rPr>
              <a:t> — inside an HTML tag</a:t>
            </a:r>
            <a:br>
              <a:rPr lang="en-US" sz="2000">
                <a:solidFill>
                  <a:schemeClr val="lt1"/>
                </a:solidFill>
              </a:rPr>
            </a:b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b="1" lang="en-US" sz="2000">
                <a:solidFill>
                  <a:schemeClr val="lt1"/>
                </a:solidFill>
              </a:rPr>
              <a:t>Internal</a:t>
            </a:r>
            <a:r>
              <a:rPr lang="en-US" sz="2000">
                <a:solidFill>
                  <a:schemeClr val="lt1"/>
                </a:solidFill>
              </a:rPr>
              <a:t> — inside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&lt;style&gt;</a:t>
            </a:r>
            <a:r>
              <a:rPr lang="en-US" sz="2000">
                <a:solidFill>
                  <a:schemeClr val="lt1"/>
                </a:solidFill>
              </a:rPr>
              <a:t> in HTML</a:t>
            </a:r>
            <a:br>
              <a:rPr lang="en-US" sz="2000">
                <a:solidFill>
                  <a:schemeClr val="lt1"/>
                </a:solidFill>
              </a:rPr>
            </a:b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b="1" lang="en-US" sz="2000">
                <a:solidFill>
                  <a:schemeClr val="lt1"/>
                </a:solidFill>
              </a:rPr>
              <a:t>External</a:t>
            </a:r>
            <a:r>
              <a:rPr lang="en-US" sz="2000">
                <a:solidFill>
                  <a:schemeClr val="lt1"/>
                </a:solidFill>
              </a:rPr>
              <a:t> — linked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.css</a:t>
            </a:r>
            <a:r>
              <a:rPr lang="en-US" sz="2000">
                <a:solidFill>
                  <a:schemeClr val="lt1"/>
                </a:solidFill>
              </a:rPr>
              <a:t> file (best practice)</a:t>
            </a:r>
            <a:br>
              <a:rPr lang="en-US" sz="2000">
                <a:solidFill>
                  <a:schemeClr val="lt1"/>
                </a:solidFill>
              </a:rPr>
            </a:b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baa5e1e1e_0_37"/>
          <p:cNvSpPr txBox="1"/>
          <p:nvPr>
            <p:ph type="title"/>
          </p:nvPr>
        </p:nvSpPr>
        <p:spPr>
          <a:xfrm>
            <a:off x="194200" y="-773650"/>
            <a:ext cx="52617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Ways to Use CSS</a:t>
            </a:r>
            <a:endParaRPr sz="3000"/>
          </a:p>
        </p:txBody>
      </p:sp>
      <p:pic>
        <p:nvPicPr>
          <p:cNvPr id="478" name="Google Shape;478;g3abaa5e1e1e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750" y="914500"/>
            <a:ext cx="3869350" cy="41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baa5e1e1e_0_27"/>
          <p:cNvSpPr txBox="1"/>
          <p:nvPr>
            <p:ph type="title"/>
          </p:nvPr>
        </p:nvSpPr>
        <p:spPr>
          <a:xfrm>
            <a:off x="537600" y="-326925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Selectors</a:t>
            </a:r>
            <a:endParaRPr/>
          </a:p>
        </p:txBody>
      </p:sp>
      <p:sp>
        <p:nvSpPr>
          <p:cNvPr id="484" name="Google Shape;484;g3abaa5e1e1e_0_27"/>
          <p:cNvSpPr txBox="1"/>
          <p:nvPr/>
        </p:nvSpPr>
        <p:spPr>
          <a:xfrm>
            <a:off x="747300" y="1565650"/>
            <a:ext cx="6288900" cy="25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A0A0A"/>
                </a:solidFill>
              </a:rPr>
              <a:t>CSS selectors are patterns used in CSS to select and target specific HTML elements on a webpage, allowing for the application of styles to those elements. They are fundamental to styling web content and can be categorized into several types: </a:t>
            </a:r>
            <a:endParaRPr b="1" sz="1600">
              <a:solidFill>
                <a:srgbClr val="0A0A0A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A0A0A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baa5e1e1e_0_48"/>
          <p:cNvSpPr txBox="1"/>
          <p:nvPr>
            <p:ph type="title"/>
          </p:nvPr>
        </p:nvSpPr>
        <p:spPr>
          <a:xfrm>
            <a:off x="277825" y="-699175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types:</a:t>
            </a:r>
            <a:endParaRPr/>
          </a:p>
        </p:txBody>
      </p:sp>
      <p:sp>
        <p:nvSpPr>
          <p:cNvPr id="490" name="Google Shape;490;g3abaa5e1e1e_0_48"/>
          <p:cNvSpPr txBox="1"/>
          <p:nvPr/>
        </p:nvSpPr>
        <p:spPr>
          <a:xfrm>
            <a:off x="795025" y="11490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Element selector</a:t>
            </a:r>
            <a:endParaRPr b="1" sz="1800"/>
          </a:p>
        </p:txBody>
      </p:sp>
      <p:pic>
        <p:nvPicPr>
          <p:cNvPr id="491" name="Google Shape;491;g3abaa5e1e1e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400" y="1857648"/>
            <a:ext cx="4034400" cy="1881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baa5e1e1e_0_61"/>
          <p:cNvSpPr txBox="1"/>
          <p:nvPr>
            <p:ph type="title"/>
          </p:nvPr>
        </p:nvSpPr>
        <p:spPr>
          <a:xfrm>
            <a:off x="359575" y="-5211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selector</a:t>
            </a:r>
            <a:endParaRPr/>
          </a:p>
        </p:txBody>
      </p:sp>
      <p:pic>
        <p:nvPicPr>
          <p:cNvPr id="497" name="Google Shape;497;g3abaa5e1e1e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825" y="1504100"/>
            <a:ext cx="4620832" cy="17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baa5e1e1e_0_67"/>
          <p:cNvSpPr txBox="1"/>
          <p:nvPr>
            <p:ph type="title"/>
          </p:nvPr>
        </p:nvSpPr>
        <p:spPr>
          <a:xfrm>
            <a:off x="690100" y="-4240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 selector</a:t>
            </a:r>
            <a:endParaRPr/>
          </a:p>
        </p:txBody>
      </p:sp>
      <p:pic>
        <p:nvPicPr>
          <p:cNvPr id="503" name="Google Shape;503;g3abaa5e1e1e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600" y="1901725"/>
            <a:ext cx="4698850" cy="1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baa5e1e1e_0_73"/>
          <p:cNvSpPr txBox="1"/>
          <p:nvPr>
            <p:ph type="title"/>
          </p:nvPr>
        </p:nvSpPr>
        <p:spPr>
          <a:xfrm>
            <a:off x="485500" y="-343125"/>
            <a:ext cx="52779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Universal selector</a:t>
            </a:r>
            <a:endParaRPr/>
          </a:p>
        </p:txBody>
      </p:sp>
      <p:pic>
        <p:nvPicPr>
          <p:cNvPr id="509" name="Google Shape;509;g3abaa5e1e1e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125" y="2048975"/>
            <a:ext cx="4427750" cy="182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abaa5e1e1e_0_79"/>
          <p:cNvSpPr txBox="1"/>
          <p:nvPr>
            <p:ph type="title"/>
          </p:nvPr>
        </p:nvSpPr>
        <p:spPr>
          <a:xfrm>
            <a:off x="537600" y="-763925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Box Model</a:t>
            </a:r>
            <a:endParaRPr/>
          </a:p>
        </p:txBody>
      </p:sp>
      <p:pic>
        <p:nvPicPr>
          <p:cNvPr id="515" name="Google Shape;515;g3abaa5e1e1e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075" y="1218300"/>
            <a:ext cx="4504625" cy="323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g3abaa5e1e1e_0_79"/>
          <p:cNvSpPr txBox="1"/>
          <p:nvPr/>
        </p:nvSpPr>
        <p:spPr>
          <a:xfrm>
            <a:off x="634700" y="1541250"/>
            <a:ext cx="1644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Properties: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margin, border, padding, width, height</a:t>
            </a:r>
            <a:endParaRPr b="1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baa5e1e1e_0_89"/>
          <p:cNvSpPr txBox="1"/>
          <p:nvPr>
            <p:ph type="title"/>
          </p:nvPr>
        </p:nvSpPr>
        <p:spPr>
          <a:xfrm>
            <a:off x="277825" y="-278375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Colors &amp; Units</a:t>
            </a:r>
            <a:endParaRPr/>
          </a:p>
        </p:txBody>
      </p:sp>
      <p:pic>
        <p:nvPicPr>
          <p:cNvPr id="522" name="Google Shape;522;g3abaa5e1e1e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4625" y="2034375"/>
            <a:ext cx="3711600" cy="24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abaa5e1e1e_0_239"/>
          <p:cNvSpPr txBox="1"/>
          <p:nvPr>
            <p:ph type="title"/>
          </p:nvPr>
        </p:nvSpPr>
        <p:spPr>
          <a:xfrm>
            <a:off x="423500" y="-4240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COLORS</a:t>
            </a:r>
            <a:endParaRPr/>
          </a:p>
        </p:txBody>
      </p:sp>
      <p:pic>
        <p:nvPicPr>
          <p:cNvPr id="528" name="Google Shape;528;g3abaa5e1e1e_0_2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9800" y="1441400"/>
            <a:ext cx="3889950" cy="34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baa5e1e1e_0_95"/>
          <p:cNvSpPr txBox="1"/>
          <p:nvPr>
            <p:ph type="title"/>
          </p:nvPr>
        </p:nvSpPr>
        <p:spPr>
          <a:xfrm>
            <a:off x="537600" y="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Fonts &amp; Text Styling</a:t>
            </a:r>
            <a:endParaRPr/>
          </a:p>
        </p:txBody>
      </p:sp>
      <p:pic>
        <p:nvPicPr>
          <p:cNvPr id="534" name="Google Shape;534;g3abaa5e1e1e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350" y="1661175"/>
            <a:ext cx="4180950" cy="307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abaa5e1e1e_0_244"/>
          <p:cNvSpPr txBox="1"/>
          <p:nvPr>
            <p:ph type="title"/>
          </p:nvPr>
        </p:nvSpPr>
        <p:spPr>
          <a:xfrm>
            <a:off x="277825" y="-76390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FONTS</a:t>
            </a:r>
            <a:endParaRPr/>
          </a:p>
        </p:txBody>
      </p:sp>
      <p:pic>
        <p:nvPicPr>
          <p:cNvPr id="540" name="Google Shape;540;g3abaa5e1e1e_0_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1775" y="663050"/>
            <a:ext cx="4408776" cy="41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baa5e1e1e_0_101"/>
          <p:cNvSpPr txBox="1"/>
          <p:nvPr>
            <p:ph type="title"/>
          </p:nvPr>
        </p:nvSpPr>
        <p:spPr>
          <a:xfrm>
            <a:off x="431150" y="-713625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Display Property</a:t>
            </a:r>
            <a:endParaRPr/>
          </a:p>
        </p:txBody>
      </p:sp>
      <p:sp>
        <p:nvSpPr>
          <p:cNvPr id="546" name="Google Shape;546;g3abaa5e1e1e_0_101"/>
          <p:cNvSpPr txBox="1"/>
          <p:nvPr/>
        </p:nvSpPr>
        <p:spPr>
          <a:xfrm>
            <a:off x="431150" y="1246175"/>
            <a:ext cx="431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Controls how an element behaves.</a:t>
            </a:r>
            <a:endParaRPr sz="2100"/>
          </a:p>
        </p:txBody>
      </p:sp>
      <p:pic>
        <p:nvPicPr>
          <p:cNvPr id="547" name="Google Shape;547;g3abaa5e1e1e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7250" y="1966975"/>
            <a:ext cx="3646052" cy="26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abaa5e1e1e_0_249"/>
          <p:cNvSpPr txBox="1"/>
          <p:nvPr>
            <p:ph type="title"/>
          </p:nvPr>
        </p:nvSpPr>
        <p:spPr>
          <a:xfrm>
            <a:off x="520600" y="-822200"/>
            <a:ext cx="55368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DISPLAY PROPERTY</a:t>
            </a:r>
            <a:endParaRPr/>
          </a:p>
        </p:txBody>
      </p:sp>
      <p:pic>
        <p:nvPicPr>
          <p:cNvPr id="553" name="Google Shape;553;g3abaa5e1e1e_0_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300" y="1441400"/>
            <a:ext cx="5375299" cy="30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abaa5e1e1e_0_110"/>
          <p:cNvSpPr txBox="1"/>
          <p:nvPr>
            <p:ph type="title"/>
          </p:nvPr>
        </p:nvSpPr>
        <p:spPr>
          <a:xfrm>
            <a:off x="537600" y="-793025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Flexbox Basics</a:t>
            </a:r>
            <a:endParaRPr/>
          </a:p>
        </p:txBody>
      </p:sp>
      <p:sp>
        <p:nvSpPr>
          <p:cNvPr id="559" name="Google Shape;559;g3abaa5e1e1e_0_110"/>
          <p:cNvSpPr txBox="1"/>
          <p:nvPr/>
        </p:nvSpPr>
        <p:spPr>
          <a:xfrm>
            <a:off x="537600" y="1034800"/>
            <a:ext cx="5203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Useful for aligning and distributing items</a:t>
            </a:r>
            <a:endParaRPr b="1" sz="1900"/>
          </a:p>
        </p:txBody>
      </p:sp>
      <p:pic>
        <p:nvPicPr>
          <p:cNvPr id="560" name="Google Shape;560;g3abaa5e1e1e_0_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850" y="1592725"/>
            <a:ext cx="4300388" cy="31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baa5e1e1e_0_119"/>
          <p:cNvSpPr txBox="1"/>
          <p:nvPr>
            <p:ph type="title"/>
          </p:nvPr>
        </p:nvSpPr>
        <p:spPr>
          <a:xfrm>
            <a:off x="537600" y="-682975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Grid Basics</a:t>
            </a:r>
            <a:endParaRPr/>
          </a:p>
        </p:txBody>
      </p:sp>
      <p:sp>
        <p:nvSpPr>
          <p:cNvPr id="566" name="Google Shape;566;g3abaa5e1e1e_0_119"/>
          <p:cNvSpPr txBox="1"/>
          <p:nvPr/>
        </p:nvSpPr>
        <p:spPr>
          <a:xfrm>
            <a:off x="922475" y="11448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2D layout system.</a:t>
            </a:r>
            <a:endParaRPr b="1" sz="1800"/>
          </a:p>
        </p:txBody>
      </p:sp>
      <p:pic>
        <p:nvPicPr>
          <p:cNvPr id="567" name="Google Shape;567;g3abaa5e1e1e_0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200" y="1687475"/>
            <a:ext cx="4462075" cy="255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abaa5e1e1e_0_254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3" name="Google Shape;573;g3abaa5e1e1e_0_2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550" y="794025"/>
            <a:ext cx="6093326" cy="34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baa5e1e1e_0_128"/>
          <p:cNvSpPr txBox="1"/>
          <p:nvPr>
            <p:ph type="title"/>
          </p:nvPr>
        </p:nvSpPr>
        <p:spPr>
          <a:xfrm>
            <a:off x="277825" y="-595625"/>
            <a:ext cx="5666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Transitions &amp; Animations</a:t>
            </a:r>
            <a:endParaRPr/>
          </a:p>
        </p:txBody>
      </p:sp>
      <p:pic>
        <p:nvPicPr>
          <p:cNvPr id="579" name="Google Shape;579;g3abaa5e1e1e_0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050" y="1467825"/>
            <a:ext cx="2870050" cy="30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abaa5e1e1e_0_134"/>
          <p:cNvSpPr txBox="1"/>
          <p:nvPr>
            <p:ph type="title"/>
          </p:nvPr>
        </p:nvSpPr>
        <p:spPr>
          <a:xfrm>
            <a:off x="537600" y="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Animation example:</a:t>
            </a:r>
            <a:endParaRPr/>
          </a:p>
        </p:txBody>
      </p:sp>
      <p:pic>
        <p:nvPicPr>
          <p:cNvPr id="585" name="Google Shape;585;g3abaa5e1e1e_0_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9375" y="1121000"/>
            <a:ext cx="3387925" cy="360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baa5e1e1e_0_140"/>
          <p:cNvSpPr txBox="1"/>
          <p:nvPr>
            <p:ph type="title"/>
          </p:nvPr>
        </p:nvSpPr>
        <p:spPr>
          <a:xfrm>
            <a:off x="537600" y="0"/>
            <a:ext cx="5786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Responsive Design (Media Queries)</a:t>
            </a:r>
            <a:endParaRPr/>
          </a:p>
        </p:txBody>
      </p:sp>
      <p:pic>
        <p:nvPicPr>
          <p:cNvPr id="591" name="Google Shape;591;g3abaa5e1e1e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450" y="2082700"/>
            <a:ext cx="4294225" cy="236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baa5e1e1e_0_226"/>
          <p:cNvSpPr txBox="1"/>
          <p:nvPr>
            <p:ph type="title"/>
          </p:nvPr>
        </p:nvSpPr>
        <p:spPr>
          <a:xfrm>
            <a:off x="2033375" y="1245150"/>
            <a:ext cx="56178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/>
              <a:t>HTML CSS QUIZ</a:t>
            </a:r>
            <a:endParaRPr b="1" sz="4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abaa5e1e1e_0_146"/>
          <p:cNvSpPr txBox="1"/>
          <p:nvPr>
            <p:ph type="title"/>
          </p:nvPr>
        </p:nvSpPr>
        <p:spPr>
          <a:xfrm>
            <a:off x="537600" y="-812475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 QUESTION</a:t>
            </a:r>
            <a:endParaRPr/>
          </a:p>
        </p:txBody>
      </p:sp>
      <p:sp>
        <p:nvSpPr>
          <p:cNvPr id="602" name="Google Shape;602;g3abaa5e1e1e_0_146"/>
          <p:cNvSpPr txBox="1"/>
          <p:nvPr/>
        </p:nvSpPr>
        <p:spPr>
          <a:xfrm>
            <a:off x="695900" y="1015350"/>
            <a:ext cx="5871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Instructions: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Create an </a:t>
            </a:r>
            <a:r>
              <a:rPr b="1" lang="en-US" sz="1600">
                <a:solidFill>
                  <a:schemeClr val="lt1"/>
                </a:solidFill>
              </a:rPr>
              <a:t>HTML and CSS webpage</a:t>
            </a:r>
            <a:r>
              <a:rPr lang="en-US" sz="1600">
                <a:solidFill>
                  <a:schemeClr val="lt1"/>
                </a:solidFill>
              </a:rPr>
              <a:t> that demonstrates the following requirements.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Use </a:t>
            </a:r>
            <a:r>
              <a:rPr b="1" lang="en-US" sz="1600">
                <a:solidFill>
                  <a:schemeClr val="lt1"/>
                </a:solidFill>
              </a:rPr>
              <a:t>only ONE</a:t>
            </a:r>
            <a:r>
              <a:rPr lang="en-US" sz="1600">
                <a:solidFill>
                  <a:schemeClr val="lt1"/>
                </a:solidFill>
              </a:rPr>
              <a:t> of the following CSS selector types:</a:t>
            </a:r>
            <a:endParaRPr sz="1900"/>
          </a:p>
        </p:txBody>
      </p:sp>
      <p:sp>
        <p:nvSpPr>
          <p:cNvPr id="603" name="Google Shape;603;g3abaa5e1e1e_0_146"/>
          <p:cNvSpPr txBox="1"/>
          <p:nvPr/>
        </p:nvSpPr>
        <p:spPr>
          <a:xfrm>
            <a:off x="793000" y="2265975"/>
            <a:ext cx="498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You will be </a:t>
            </a:r>
            <a:r>
              <a:rPr b="1" lang="en-US" sz="1900">
                <a:solidFill>
                  <a:schemeClr val="lt1"/>
                </a:solidFill>
              </a:rPr>
              <a:t>given a Google Form link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 where you must upload: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✔ A </a:t>
            </a:r>
            <a:r>
              <a:rPr b="1" lang="en-US" sz="1900">
                <a:solidFill>
                  <a:schemeClr val="lt1"/>
                </a:solidFill>
              </a:rPr>
              <a:t>screenshot</a:t>
            </a:r>
            <a:r>
              <a:rPr lang="en-US" sz="1900">
                <a:solidFill>
                  <a:schemeClr val="lt1"/>
                </a:solidFill>
              </a:rPr>
              <a:t> of your HTML output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✔ A </a:t>
            </a:r>
            <a:r>
              <a:rPr b="1" lang="en-US" sz="1900">
                <a:solidFill>
                  <a:schemeClr val="lt1"/>
                </a:solidFill>
              </a:rPr>
              <a:t>screenshot</a:t>
            </a:r>
            <a:r>
              <a:rPr lang="en-US" sz="1900">
                <a:solidFill>
                  <a:schemeClr val="lt1"/>
                </a:solidFill>
              </a:rPr>
              <a:t> of your CSS output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✔ Your </a:t>
            </a:r>
            <a:r>
              <a:rPr b="1" lang="en-US" sz="1900">
                <a:solidFill>
                  <a:schemeClr val="lt1"/>
                </a:solidFill>
              </a:rPr>
              <a:t>HTML file (.html)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✔ Your </a:t>
            </a:r>
            <a:r>
              <a:rPr b="1" lang="en-US" sz="1900">
                <a:solidFill>
                  <a:schemeClr val="lt1"/>
                </a:solidFill>
              </a:rPr>
              <a:t>CSS file (.css)</a:t>
            </a:r>
            <a:endParaRPr sz="2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abaa5e1e1e_0_217"/>
          <p:cNvSpPr txBox="1"/>
          <p:nvPr>
            <p:ph type="title"/>
          </p:nvPr>
        </p:nvSpPr>
        <p:spPr>
          <a:xfrm>
            <a:off x="771000" y="2116825"/>
            <a:ext cx="64107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Use HTML 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links, 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Images, 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List  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tables</a:t>
            </a:r>
            <a:endParaRPr sz="3600"/>
          </a:p>
        </p:txBody>
      </p:sp>
      <p:sp>
        <p:nvSpPr>
          <p:cNvPr id="609" name="Google Shape;609;g3abaa5e1e1e_0_217"/>
          <p:cNvSpPr txBox="1"/>
          <p:nvPr>
            <p:ph type="title"/>
          </p:nvPr>
        </p:nvSpPr>
        <p:spPr>
          <a:xfrm>
            <a:off x="172200" y="-595625"/>
            <a:ext cx="64107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/>
              <a:t>A.HTML</a:t>
            </a:r>
            <a:endParaRPr b="1" sz="35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baa5e1e1e_0_173"/>
          <p:cNvSpPr txBox="1"/>
          <p:nvPr/>
        </p:nvSpPr>
        <p:spPr>
          <a:xfrm>
            <a:off x="744475" y="760625"/>
            <a:ext cx="3827400" cy="3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</a:rPr>
              <a:t>B</a:t>
            </a:r>
            <a:r>
              <a:rPr b="1" lang="en-US" sz="2200">
                <a:solidFill>
                  <a:schemeClr val="lt1"/>
                </a:solidFill>
              </a:rPr>
              <a:t>. CSS Selector (choose ONE only):</a:t>
            </a:r>
            <a:endParaRPr b="1" sz="22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Class Selector (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.classname</a:t>
            </a:r>
            <a:r>
              <a:rPr lang="en-US" sz="2000">
                <a:solidFill>
                  <a:schemeClr val="lt1"/>
                </a:solidFill>
              </a:rPr>
              <a:t>)</a:t>
            </a:r>
            <a:br>
              <a:rPr lang="en-US" sz="2000">
                <a:solidFill>
                  <a:schemeClr val="lt1"/>
                </a:solidFill>
              </a:rPr>
            </a:b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ID Selector (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#idname</a:t>
            </a:r>
            <a:r>
              <a:rPr lang="en-US" sz="2000">
                <a:solidFill>
                  <a:schemeClr val="lt1"/>
                </a:solidFill>
              </a:rPr>
              <a:t>)</a:t>
            </a:r>
            <a:br>
              <a:rPr lang="en-US" sz="2000">
                <a:solidFill>
                  <a:schemeClr val="lt1"/>
                </a:solidFill>
              </a:rPr>
            </a:b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Universal Selector (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US" sz="2000">
                <a:solidFill>
                  <a:schemeClr val="lt1"/>
                </a:solidFill>
              </a:rPr>
              <a:t>)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baa5e1e1e_0_166"/>
          <p:cNvSpPr txBox="1"/>
          <p:nvPr>
            <p:ph type="title"/>
          </p:nvPr>
        </p:nvSpPr>
        <p:spPr>
          <a:xfrm>
            <a:off x="819600" y="30393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C. Your web page must include: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b="1"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Colors</a:t>
            </a: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(text or background)</a:t>
            </a:r>
            <a:b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b="1"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Font and Text Styling</a:t>
            </a: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(font-size, font-family, text-align, etc.)</a:t>
            </a:r>
            <a:b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b="1"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Flexbox layout</a:t>
            </a:r>
            <a:br>
              <a:rPr b="1"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b="1"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CSS Grid layout</a:t>
            </a:r>
            <a:br>
              <a:rPr b="1"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b="1"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One Transition</a:t>
            </a:r>
            <a:br>
              <a:rPr b="1"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b="1"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One Animation</a:t>
            </a:r>
            <a:endParaRPr b="1"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3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abaa5e1e1e_0_161"/>
          <p:cNvSpPr txBox="1"/>
          <p:nvPr>
            <p:ph type="title"/>
          </p:nvPr>
        </p:nvSpPr>
        <p:spPr>
          <a:xfrm>
            <a:off x="957550" y="2011925"/>
            <a:ext cx="57309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D. Submission Requirements: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Submit your work </a:t>
            </a: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before 5 PM today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 the top of your HTML file, include an HTML comment with your </a:t>
            </a: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Name and Section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Example: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</dc:creator>
</cp:coreProperties>
</file>
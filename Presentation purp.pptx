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8B3A15-0E6F-4A2A-AD84-4F21E7575B8C}" v="529" dt="2024-02-26T14:38:35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330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5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263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877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267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395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22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070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87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024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407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912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938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952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110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606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70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40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AUSTRALIAN'S CULTURE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1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220A-1DD9-82A2-EB2B-2C46FCA28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chemeClr val="accent4"/>
                </a:solidFill>
              </a:rPr>
              <a:t>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8886D-65D0-E398-6C8E-CA9DDE3EB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200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 Culture is a learned system of meanings that fosters a particular sense of shared identity-hood and community-hood among its group </a:t>
            </a:r>
            <a:r>
              <a:rPr lang="en-US" sz="320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members.</a:t>
            </a:r>
            <a:endParaRPr lang="en-US" sz="3200" dirty="0">
              <a:solidFill>
                <a:schemeClr val="tx1"/>
              </a:solidFill>
              <a:latin typeface="Aptos"/>
              <a:ea typeface="Segoe UI Historic"/>
              <a:cs typeface="Segoe UI Historic"/>
            </a:endParaRPr>
          </a:p>
          <a:p>
            <a:pPr>
              <a:buSzPct val="114999"/>
            </a:pPr>
            <a:r>
              <a:rPr lang="en-US" sz="3200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Is a complex frame of reference that consists of a pattern of traditions, beliefs, values, norms, symbols, and meanings that are shared to varying degrees by interacting members of an identity group.</a:t>
            </a:r>
          </a:p>
          <a:p>
            <a:pPr>
              <a:buSzPct val="114999"/>
            </a:pPr>
            <a:br>
              <a:rPr lang="en-US" dirty="0"/>
            </a:br>
            <a:endParaRPr lang="en-US" dirty="0"/>
          </a:p>
          <a:p>
            <a:pPr>
              <a:buSzPct val="114999"/>
            </a:pPr>
            <a:endParaRPr lang="en-US" sz="3200" dirty="0">
              <a:solidFill>
                <a:schemeClr val="tx1"/>
              </a:solidFill>
              <a:latin typeface="Aptos Display"/>
              <a:ea typeface="Segoe UI Historic"/>
              <a:cs typeface="Segoe UI Historic"/>
            </a:endParaRPr>
          </a:p>
        </p:txBody>
      </p:sp>
    </p:spTree>
    <p:extLst>
      <p:ext uri="{BB962C8B-B14F-4D97-AF65-F5344CB8AC3E}">
        <p14:creationId xmlns:p14="http://schemas.microsoft.com/office/powerpoint/2010/main" val="85787016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B393D-2878-D637-A806-5748F0A5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4"/>
                </a:solidFill>
              </a:rPr>
              <a:t>NATIONAL CULTURE COMMUNICATION 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07200-65AA-13F5-7F89-D58C0FDD4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Australians tend to put directness before diplomacy and therefore can be considered quite blunt on occasions - especially by people from those cultures in which the majority are wary of speaking plainly for fear of creating a negative emotional impact upon the people they are talking to.</a:t>
            </a:r>
            <a:endParaRPr lang="en-US" sz="3200">
              <a:solidFill>
                <a:schemeClr val="tx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85187096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34802-605A-08C6-AA5F-C603EA875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412471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E7D41-FABC-6F2C-00FE-C48DC3E82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550517"/>
            <a:ext cx="9601196" cy="43253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Australians tend to put directness before diplomacy and therefore can be considered quite blunt on occasions - especially by people from those cultures in which the majority are wary of speaking plainly for fear of creating a negative emotional impact upon the people they are talking to.</a:t>
            </a: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Australia is one of the very few cultures in which humor is all pervasive in business situations.</a:t>
            </a: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First names are invariably used in all business situations in Australia.</a:t>
            </a:r>
          </a:p>
        </p:txBody>
      </p:sp>
    </p:spTree>
    <p:extLst>
      <p:ext uri="{BB962C8B-B14F-4D97-AF65-F5344CB8AC3E}">
        <p14:creationId xmlns:p14="http://schemas.microsoft.com/office/powerpoint/2010/main" val="355910575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1BB68-B8B7-2D7C-5B95-2484DB50B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497" y="407038"/>
            <a:ext cx="9788101" cy="187896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AUSTRALIAN ETIQUETTE &amp; CUSTOMS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317FE-F18D-45B0-E8D8-74C1683C9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137" y="2355648"/>
            <a:ext cx="9601196" cy="4497879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Aptos"/>
                <a:ea typeface="Segoe UI Historic"/>
                <a:cs typeface="Segoe UI Historic"/>
              </a:rPr>
              <a:t>1. </a:t>
            </a:r>
            <a:r>
              <a:rPr lang="en-US" dirty="0">
                <a:solidFill>
                  <a:srgbClr val="7030A0"/>
                </a:solidFill>
                <a:latin typeface="Aptos"/>
                <a:ea typeface="Segoe UI Historic"/>
                <a:cs typeface="Segoe UI Historic"/>
              </a:rPr>
              <a:t>Australians are not very formal, so greetings are casual and relaxed</a:t>
            </a:r>
            <a:r>
              <a:rPr lang="en-US" sz="2000" dirty="0">
                <a:solidFill>
                  <a:srgbClr val="7030A0"/>
                </a:solidFill>
                <a:latin typeface="Aptos"/>
                <a:ea typeface="Segoe UI Historic"/>
                <a:cs typeface="Segoe UI Historic"/>
              </a:rPr>
              <a:t>.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  <a:ea typeface="Segoe UI Historic"/>
                <a:cs typeface="Segoe UI Historic"/>
              </a:rPr>
              <a:t>Humility and authenticity are strong values in Australian culture. As such, they also tend to value sincerity,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  <a:ea typeface="Segoe UI Historic"/>
                <a:cs typeface="Segoe UI Historic"/>
              </a:rPr>
              <a:t>humour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  <a:ea typeface="Segoe UI Historic"/>
                <a:cs typeface="Segoe UI Historic"/>
              </a:rPr>
              <a:t>, informality, whilst loathing pretentiousness. 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Aptos Display"/>
              <a:ea typeface="Segoe UI Historic"/>
              <a:cs typeface="Segoe UI Historic"/>
            </a:endParaRPr>
          </a:p>
          <a:p>
            <a:pPr>
              <a:buSzPct val="114999"/>
            </a:pPr>
            <a:r>
              <a:rPr lang="en-US" dirty="0">
                <a:solidFill>
                  <a:srgbClr val="7030A0"/>
                </a:solidFill>
                <a:latin typeface="Aptos"/>
                <a:ea typeface="Segoe UI Historic"/>
                <a:cs typeface="Segoe UI Historic"/>
              </a:rPr>
              <a:t>2. A handshake and smile suffices.</a:t>
            </a:r>
            <a:r>
              <a:rPr lang="en-US" sz="1600" dirty="0">
                <a:latin typeface="Aptos Display"/>
                <a:ea typeface="Segoe UI Historic"/>
                <a:cs typeface="Segoe UI Historic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ptos Display"/>
                <a:ea typeface="Segoe UI Historic"/>
                <a:cs typeface="Segoe UI Historic"/>
              </a:rPr>
              <a:t>The majority of Australians are informal, so exchanging a handshake and a smile can be enough as a greeting that goes both ways.</a:t>
            </a:r>
            <a:endParaRPr lang="en-US" sz="1600" dirty="0">
              <a:solidFill>
                <a:schemeClr val="tx1"/>
              </a:solidFill>
              <a:latin typeface="Aptos Display"/>
              <a:ea typeface="Segoe UI Historic"/>
              <a:cs typeface="Segoe UI Historic"/>
            </a:endParaRPr>
          </a:p>
          <a:p>
            <a:pPr>
              <a:buSzPct val="114999"/>
            </a:pPr>
            <a:r>
              <a:rPr lang="en-US" dirty="0">
                <a:solidFill>
                  <a:srgbClr val="7030A0"/>
                </a:solidFill>
                <a:latin typeface="Aptos"/>
                <a:ea typeface="Segoe UI Historic"/>
                <a:cs typeface="Segoe UI Historic"/>
              </a:rPr>
              <a:t>3. While an Australian may say, '</a:t>
            </a:r>
            <a:r>
              <a:rPr lang="en-US" err="1">
                <a:solidFill>
                  <a:srgbClr val="7030A0"/>
                </a:solidFill>
                <a:latin typeface="Aptos"/>
                <a:ea typeface="Segoe UI Historic"/>
                <a:cs typeface="Segoe UI Historic"/>
              </a:rPr>
              <a:t>G'day</a:t>
            </a:r>
            <a:r>
              <a:rPr lang="en-US" dirty="0">
                <a:solidFill>
                  <a:srgbClr val="7030A0"/>
                </a:solidFill>
                <a:latin typeface="Aptos"/>
                <a:ea typeface="Segoe UI Historic"/>
                <a:cs typeface="Segoe UI Historic"/>
              </a:rPr>
              <a:t>' or '</a:t>
            </a:r>
            <a:r>
              <a:rPr lang="en-US" err="1">
                <a:solidFill>
                  <a:srgbClr val="7030A0"/>
                </a:solidFill>
                <a:latin typeface="Aptos"/>
                <a:ea typeface="Segoe UI Historic"/>
                <a:cs typeface="Segoe UI Historic"/>
              </a:rPr>
              <a:t>G'day</a:t>
            </a:r>
            <a:r>
              <a:rPr lang="en-US" dirty="0">
                <a:solidFill>
                  <a:srgbClr val="7030A0"/>
                </a:solidFill>
                <a:latin typeface="Aptos"/>
                <a:ea typeface="Segoe UI Historic"/>
                <a:cs typeface="Segoe UI Historic"/>
              </a:rPr>
              <a:t>, mate', this may sound patronizing from a foreigner</a:t>
            </a:r>
            <a:r>
              <a:rPr lang="en-US" sz="1100" dirty="0">
                <a:solidFill>
                  <a:srgbClr val="050505"/>
                </a:solidFill>
                <a:latin typeface="Segoe UI Historic"/>
                <a:ea typeface="Segoe UI Historic"/>
                <a:cs typeface="Segoe UI Historic"/>
              </a:rPr>
              <a:t>. </a:t>
            </a:r>
            <a:r>
              <a:rPr lang="en-US" sz="2000" dirty="0">
                <a:solidFill>
                  <a:schemeClr val="tx1"/>
                </a:solidFill>
                <a:latin typeface="Aptos Display"/>
                <a:ea typeface="Segoe UI Historic"/>
                <a:cs typeface="Segoe UI Historic"/>
              </a:rPr>
              <a:t>The reaction of Australians would either be to think it’s patronizing when you imitate stereotypical tropes of them while some will </a:t>
            </a:r>
            <a:r>
              <a:rPr lang="en-US" sz="2000">
                <a:solidFill>
                  <a:schemeClr val="tx1"/>
                </a:solidFill>
                <a:latin typeface="Aptos Display"/>
                <a:ea typeface="Segoe UI Historic"/>
                <a:cs typeface="Segoe UI Historic"/>
              </a:rPr>
              <a:t>appreciate the effort of trying to immerse in their culture.</a:t>
            </a:r>
            <a:endParaRPr lang="en-US" sz="1600">
              <a:solidFill>
                <a:schemeClr val="tx1"/>
              </a:solidFill>
              <a:latin typeface="Aptos Display"/>
              <a:ea typeface="Segoe UI Historic"/>
              <a:cs typeface="Segoe UI Historic"/>
            </a:endParaRPr>
          </a:p>
          <a:p>
            <a:pPr>
              <a:buSzPct val="114999"/>
            </a:pPr>
            <a:br>
              <a:rPr lang="en-US" sz="2000" dirty="0">
                <a:solidFill>
                  <a:schemeClr val="tx1"/>
                </a:solidFill>
                <a:latin typeface="Aptos Display"/>
                <a:ea typeface="Segoe UI Historic"/>
                <a:cs typeface="Segoe UI Historic"/>
              </a:rPr>
            </a:br>
            <a:endParaRPr lang="en-US" sz="1600">
              <a:solidFill>
                <a:schemeClr val="tx1">
                  <a:lumMod val="95000"/>
                  <a:lumOff val="5000"/>
                </a:schemeClr>
              </a:solidFill>
              <a:latin typeface="Aptos Display"/>
              <a:ea typeface="Segoe UI Historic"/>
              <a:cs typeface="Segoe UI Historic"/>
            </a:endParaRPr>
          </a:p>
        </p:txBody>
      </p:sp>
    </p:spTree>
    <p:extLst>
      <p:ext uri="{BB962C8B-B14F-4D97-AF65-F5344CB8AC3E}">
        <p14:creationId xmlns:p14="http://schemas.microsoft.com/office/powerpoint/2010/main" val="198433485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DC8C3-6E3A-C9C4-A269-D239D9E88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10547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3C4BB-EBD8-D751-DEB7-233264CA7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349234"/>
            <a:ext cx="9601196" cy="45266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accent4"/>
                </a:solidFill>
                <a:latin typeface="Aptos"/>
              </a:rPr>
              <a:t>4. Visitors should simply say “Hello”, or “Hello, how are you?”</a:t>
            </a:r>
            <a:r>
              <a:rPr lang="en-US" dirty="0">
                <a:solidFill>
                  <a:schemeClr val="accent4"/>
                </a:solidFill>
                <a:latin typeface="Aptos"/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Similar to the second point, greetings indicate good intent as an introduction and is well enough than forcing yourself to say “</a:t>
            </a:r>
            <a:r>
              <a:rPr lang="en-US" sz="2800" err="1">
                <a:solidFill>
                  <a:schemeClr val="tx1"/>
                </a:solidFill>
              </a:rPr>
              <a:t>G’day</a:t>
            </a:r>
            <a:r>
              <a:rPr lang="en-US" sz="2800" dirty="0">
                <a:solidFill>
                  <a:schemeClr val="tx1"/>
                </a:solidFill>
              </a:rPr>
              <a:t>” or “</a:t>
            </a:r>
            <a:r>
              <a:rPr lang="en-US" sz="2800" err="1">
                <a:solidFill>
                  <a:schemeClr val="tx1"/>
                </a:solidFill>
              </a:rPr>
              <a:t>G’day</a:t>
            </a:r>
            <a:r>
              <a:rPr lang="en-US" sz="2800" dirty="0">
                <a:solidFill>
                  <a:schemeClr val="tx1"/>
                </a:solidFill>
              </a:rPr>
              <a:t>, mate”.</a:t>
            </a:r>
          </a:p>
          <a:p>
            <a:pPr>
              <a:buNone/>
            </a:pPr>
            <a:r>
              <a:rPr lang="en-US" sz="3200" dirty="0">
                <a:solidFill>
                  <a:schemeClr val="accent4"/>
                </a:solidFill>
                <a:latin typeface="Aptos"/>
                <a:ea typeface="Segoe UI Historic"/>
                <a:cs typeface="Segoe UI Historic"/>
              </a:rPr>
              <a:t>5. Aussies prefer to use first names, even at the initial meeting.</a:t>
            </a:r>
            <a:r>
              <a:rPr lang="en-US" dirty="0">
                <a:solidFill>
                  <a:schemeClr val="accent4"/>
                </a:solidFill>
                <a:latin typeface="Aptos"/>
                <a:ea typeface="Segoe UI Historic"/>
                <a:cs typeface="Segoe UI Historic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ptos Display"/>
                <a:ea typeface="Segoe UI Historic"/>
                <a:cs typeface="Segoe UI Historic"/>
              </a:rPr>
              <a:t>T</a:t>
            </a:r>
            <a:r>
              <a:rPr lang="en-US" sz="2800" dirty="0">
                <a:solidFill>
                  <a:schemeClr val="tx1"/>
                </a:solidFill>
                <a:latin typeface="Aptos Display"/>
                <a:ea typeface="Segoe UI Historic"/>
                <a:cs typeface="Segoe UI Historic"/>
              </a:rPr>
              <a:t>he first name basis is etiquette for Aussies because knowing the person themselves is more important than honorary titles.</a:t>
            </a:r>
            <a:endParaRPr lang="en-US" sz="2800" dirty="0">
              <a:solidFill>
                <a:schemeClr val="tx1"/>
              </a:solidFill>
              <a:latin typeface="Aptos Display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25730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ECC98-3852-04B6-E470-D0D77E7DA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GIFT GIVING ETIQUETTE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60860-E5D4-3F6F-A03C-13AB51433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119488"/>
            <a:ext cx="9601196" cy="375638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1. Small gifts are commonly exchanged with Family members, Close friends, and Neighbors on birthdays and Christmas.</a:t>
            </a: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2. Trades people such as sanitation workers may be given a small amount of cash, or more likely, a bottle of wine or a six-pack of beer. </a:t>
            </a: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3. If invited to someone's home for dinner, it is polite to bring a box of chocolates or flowers to the hostess. A good quality bottle of wine is always appreciated. </a:t>
            </a: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4. Gifts are always opened when they are received.</a:t>
            </a:r>
            <a:br>
              <a:rPr lang="en-US" sz="1100" dirty="0">
                <a:solidFill>
                  <a:srgbClr val="050505"/>
                </a:solidFill>
                <a:latin typeface="Segoe UI Historic"/>
                <a:ea typeface="Segoe UI Historic"/>
                <a:cs typeface="Segoe UI Historic"/>
              </a:rPr>
            </a:br>
            <a:br>
              <a:rPr lang="en-US" sz="1100" dirty="0">
                <a:solidFill>
                  <a:srgbClr val="050505"/>
                </a:solidFill>
                <a:latin typeface="Segoe UI Historic"/>
                <a:ea typeface="Segoe UI Historic"/>
                <a:cs typeface="Segoe UI Historic"/>
              </a:rPr>
            </a:br>
            <a:endParaRPr lang="en-US" sz="1100">
              <a:solidFill>
                <a:srgbClr val="050505"/>
              </a:solidFill>
              <a:latin typeface="Segoe UI Historic"/>
              <a:ea typeface="Segoe UI Historic"/>
              <a:cs typeface="Segoe UI Historic"/>
            </a:endParaRPr>
          </a:p>
        </p:txBody>
      </p:sp>
    </p:spTree>
    <p:extLst>
      <p:ext uri="{BB962C8B-B14F-4D97-AF65-F5344CB8AC3E}">
        <p14:creationId xmlns:p14="http://schemas.microsoft.com/office/powerpoint/2010/main" val="419872994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7DB2-2204-588C-5FE4-D6177BFB2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DINING ETIQUETTE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8E641-749C-D691-41E6-3001B8221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039348"/>
            <a:ext cx="9601196" cy="429659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1. Many invitations to an Aussies home will be for a 'barbie' (BBQ). </a:t>
            </a: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2. Guests to a barbeque typically bring wine or beer for their personal consumption. In some cases, very informal barbecues may suggest that you bring your own meat! </a:t>
            </a: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3. Arrive on time if invited to dinner; no more than 15 minutes late if invited to a barbeque or a large party.</a:t>
            </a: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 4. Contact the hostess ahead of time to see if she would like you to bring a dish.</a:t>
            </a: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 5. Offer to help the hostess with the preparation or clearing up after a meal is served.</a:t>
            </a:r>
            <a:endParaRPr lang="en-US">
              <a:solidFill>
                <a:schemeClr val="tx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4333516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5E039-3CBD-4C59-45A9-6CD6461E3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0557F-1159-6CCF-CC2A-AF3316B39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>
                <a:latin typeface="Aptos"/>
              </a:rPr>
              <a:t>6. Table manners are Continental -- hold the fork in the left hand and the knife in the right while eating.</a:t>
            </a:r>
          </a:p>
          <a:p>
            <a:pPr>
              <a:buSzPct val="114999"/>
            </a:pPr>
            <a:r>
              <a:rPr lang="en-US" sz="2800" dirty="0">
                <a:latin typeface="Aptos"/>
              </a:rPr>
              <a:t> 7. Indicate you have finished eating by laying your knife and fork parallel on your plate with the handles facing to the right.</a:t>
            </a:r>
          </a:p>
          <a:p>
            <a:pPr>
              <a:buSzPct val="114999"/>
            </a:pPr>
            <a:r>
              <a:rPr lang="en-US" sz="2800" dirty="0">
                <a:latin typeface="Aptos"/>
              </a:rPr>
              <a:t> 8. Keep your elbows off the table and your hands above the table when eating.</a:t>
            </a:r>
          </a:p>
          <a:p>
            <a:pPr>
              <a:buSzPct val="114999"/>
            </a:pPr>
            <a:br>
              <a:rPr lang="en-US" dirty="0"/>
            </a:br>
            <a:endParaRPr lang="en-US" dirty="0"/>
          </a:p>
          <a:p>
            <a:pPr>
              <a:buSzPct val="114999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39970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ADF8-8463-21A2-05EB-5DEF859BC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65830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chemeClr val="accent4"/>
                </a:solidFill>
                <a:latin typeface="Aptos"/>
              </a:rPr>
              <a:t>RELATIONSHIPS &amp; COMMUNICATIO</a:t>
            </a:r>
            <a:r>
              <a:rPr lang="en-US" dirty="0">
                <a:solidFill>
                  <a:schemeClr val="accent4"/>
                </a:solidFill>
                <a:latin typeface="Aptos"/>
              </a:rPr>
              <a:t>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DE4B6-A19E-74AE-35FE-0BC1B1CE8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67461"/>
            <a:ext cx="9601196" cy="3908407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1. Australians are very matter of fact when it comes to business so do not need long- standing personal relationships before they do business with people. </a:t>
            </a:r>
          </a:p>
          <a:p>
            <a:pPr>
              <a:buSzPct val="114999"/>
            </a:pPr>
            <a:r>
              <a:rPr lang="en-US" sz="2800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2. Australians are very direct in the way they communicate. </a:t>
            </a:r>
          </a:p>
          <a:p>
            <a:pPr>
              <a:buSzPct val="114999"/>
            </a:pPr>
            <a:r>
              <a:rPr lang="en-US" sz="2800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3. There is often an element of humor, often self-deprecating, in their speech. </a:t>
            </a:r>
          </a:p>
          <a:p>
            <a:pPr>
              <a:buSzPct val="114999"/>
            </a:pPr>
            <a:r>
              <a:rPr lang="en-US" sz="2800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4. Aussies often use colorful language that would be unthinkable in other countries.</a:t>
            </a:r>
            <a:endParaRPr lang="en-US" sz="2800">
              <a:solidFill>
                <a:schemeClr val="tx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9610420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8353F-9D44-26E0-96F5-77CC3654F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-110547"/>
            <a:ext cx="9601196" cy="2339037"/>
          </a:xfrm>
        </p:spPr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BUSINESS MEETING ETIQUETTE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24F7C-AD26-273D-F2CB-BD32ED5E0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493008"/>
            <a:ext cx="9601196" cy="524550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1. Appointments are necessary and relatively easy to schedule.</a:t>
            </a: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 2. They should be made with as much lead time as possible. </a:t>
            </a: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3. Punctuality is important in business situations. It is better to arrive a few minutes early than to keep someone waiting.</a:t>
            </a: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4. Meetings are generally relaxed; however, they are serious events.</a:t>
            </a: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5. If an Australian takes exception to something that you say, they will tell you so.</a:t>
            </a: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 6. If you make a presentation, avoid hype, making exaggerated claims, or bells and whistles.</a:t>
            </a:r>
            <a:endParaRPr lang="en-US">
              <a:solidFill>
                <a:schemeClr val="tx1"/>
              </a:solidFill>
              <a:latin typeface="Aptos"/>
              <a:ea typeface="Segoe UI Historic"/>
              <a:cs typeface="Segoe UI Historic"/>
            </a:endParaRP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7. Present your business case with facts and figures.</a:t>
            </a:r>
            <a:endParaRPr lang="en-US">
              <a:solidFill>
                <a:schemeClr val="tx1"/>
              </a:solidFill>
              <a:latin typeface="Aptos"/>
              <a:ea typeface="Segoe UI Historic"/>
              <a:cs typeface="Segoe UI Historic"/>
            </a:endParaRPr>
          </a:p>
        </p:txBody>
      </p:sp>
    </p:spTree>
    <p:extLst>
      <p:ext uri="{BB962C8B-B14F-4D97-AF65-F5344CB8AC3E}">
        <p14:creationId xmlns:p14="http://schemas.microsoft.com/office/powerpoint/2010/main" val="64067993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379A-B2D8-10B5-248F-F75CC0658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292019"/>
            <a:ext cx="9601196" cy="193647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NEGOTIATING &amp; DECISION 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CA4E8-353F-59B2-9359-9DB7271F0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010593"/>
            <a:ext cx="9601196" cy="4138444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1. Australians get down to business quickly with a minimum amount of small talk. </a:t>
            </a:r>
            <a:endParaRPr lang="en-US" dirty="0">
              <a:solidFill>
                <a:schemeClr val="tx1"/>
              </a:solidFill>
              <a:latin typeface="Garamond" panose="02020404030301010803"/>
              <a:ea typeface="Segoe UI Historic"/>
              <a:cs typeface="Segoe UI Historic"/>
            </a:endParaRP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2. They are quite direct and expect the same in return. They appreciate brevity and are not impressed by too much detail.</a:t>
            </a:r>
            <a:endParaRPr lang="en-US" dirty="0">
              <a:solidFill>
                <a:schemeClr val="tx1"/>
              </a:solidFill>
              <a:latin typeface="Garamond" panose="02020404030301010803"/>
              <a:ea typeface="Segoe UI Historic"/>
              <a:cs typeface="Segoe UI Historic"/>
            </a:endParaRP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 3. Negotiations proceed quickly. Bargaining is not customary. They will expect your initial proposal to have only a small margin for negotiation. </a:t>
            </a:r>
            <a:endParaRPr lang="en-US">
              <a:solidFill>
                <a:schemeClr val="tx1"/>
              </a:solidFill>
              <a:latin typeface="Garamond" panose="02020404030301010803"/>
              <a:ea typeface="Segoe UI Historic"/>
              <a:cs typeface="Segoe UI Historic"/>
            </a:endParaRP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4. They do not like high-pressure techniques. </a:t>
            </a:r>
            <a:endParaRPr lang="en-US" dirty="0">
              <a:solidFill>
                <a:schemeClr val="tx1"/>
              </a:solidFill>
              <a:latin typeface="Garamond" panose="02020404030301010803"/>
              <a:ea typeface="Segoe UI Historic"/>
              <a:cs typeface="Segoe UI Historic"/>
            </a:endParaRPr>
          </a:p>
          <a:p>
            <a:pPr>
              <a:buSzPct val="114999"/>
            </a:pPr>
            <a:r>
              <a:rPr lang="en-US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5. Decision-making is concentrated at the top of the company, although decisions are made after consultation with subordinates, which can make decision making</a:t>
            </a:r>
            <a:r>
              <a:rPr lang="en-US" sz="1100" dirty="0">
                <a:solidFill>
                  <a:srgbClr val="FFFFFF"/>
                </a:solidFill>
                <a:latin typeface="Segoe UI Historic"/>
                <a:ea typeface="Segoe UI Historic"/>
                <a:cs typeface="Segoe UI Historic"/>
              </a:rPr>
              <a:t> slow and protracted.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9628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2146-8E68-38CC-7C33-D53D16357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WHAT TO WEAR?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46291-6D3B-112D-EA4C-EB9A328AD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053725"/>
            <a:ext cx="9601196" cy="382214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1. Business dress is conservative in Melbourne and Sydney. </a:t>
            </a:r>
          </a:p>
          <a:p>
            <a:pPr>
              <a:buSzPct val="114999"/>
            </a:pPr>
            <a:r>
              <a:rPr lang="en-US" sz="2800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2. Men should wear a dark-colored, conservative business suit. </a:t>
            </a:r>
          </a:p>
          <a:p>
            <a:pPr>
              <a:buSzPct val="114999"/>
            </a:pPr>
            <a:r>
              <a:rPr lang="en-US" sz="2800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3. Women should wear a smart dress or a business suit. </a:t>
            </a:r>
          </a:p>
          <a:p>
            <a:pPr>
              <a:buSzPct val="114999"/>
            </a:pPr>
            <a:r>
              <a:rPr lang="en-US" sz="2800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4. In Brisbane or other tropical areas, depending on the job function and company culture, men may wear shirts, ties and Bermuda shorts.</a:t>
            </a:r>
            <a:endParaRPr lang="en-US" sz="2800">
              <a:solidFill>
                <a:schemeClr val="tx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9126634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4F75-6A49-1F62-6C19-18381C987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BUSINESS 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5C47C-1BB4-A3BF-93E6-92736FE76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1. Business cards are exchanged at the initial introduction without formal ritual.</a:t>
            </a:r>
          </a:p>
          <a:p>
            <a:pPr>
              <a:buSzPct val="114999"/>
            </a:pPr>
            <a:r>
              <a:rPr lang="en-US" sz="3200" dirty="0">
                <a:solidFill>
                  <a:schemeClr val="tx1"/>
                </a:solidFill>
                <a:latin typeface="Aptos"/>
                <a:ea typeface="Segoe UI Historic"/>
                <a:cs typeface="Segoe UI Historic"/>
              </a:rPr>
              <a:t> 2. If you are not given a business card, it is not an insult; the person simply may not have one.</a:t>
            </a:r>
            <a:endParaRPr lang="en-US" sz="3200">
              <a:solidFill>
                <a:schemeClr val="tx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65295528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Organic</vt:lpstr>
      <vt:lpstr>AUSTRALIAN'S CULTURE</vt:lpstr>
      <vt:lpstr>CULTURE</vt:lpstr>
      <vt:lpstr>NATIONAL CULTURE COMMUNICATION DIFFERENCES</vt:lpstr>
      <vt:lpstr>PowerPoint Presentation</vt:lpstr>
      <vt:lpstr>AUSTRALIAN ETIQUETTE &amp; CUSTOMS</vt:lpstr>
      <vt:lpstr>PowerPoint Presentation</vt:lpstr>
      <vt:lpstr>GIFT GIVING ETIQUETTE</vt:lpstr>
      <vt:lpstr>DINING ETIQUETTE</vt:lpstr>
      <vt:lpstr>PowerPoint Presentation</vt:lpstr>
      <vt:lpstr>RELATIONSHIPS &amp; COMMUNICATION</vt:lpstr>
      <vt:lpstr>BUSINESS MEETING ETIQUETTE</vt:lpstr>
      <vt:lpstr>NEGOTIATING &amp; DECISION MAKING</vt:lpstr>
      <vt:lpstr>WHAT TO WEAR?</vt:lpstr>
      <vt:lpstr>BUSINESS CARDS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274</cp:revision>
  <dcterms:created xsi:type="dcterms:W3CDTF">2024-02-26T13:30:53Z</dcterms:created>
  <dcterms:modified xsi:type="dcterms:W3CDTF">2024-02-26T14:41:29Z</dcterms:modified>
</cp:coreProperties>
</file>
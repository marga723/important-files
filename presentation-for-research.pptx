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1" r:id="rId3"/>
    <p:sldId id="300" r:id="rId4"/>
    <p:sldId id="302" r:id="rId5"/>
    <p:sldId id="320" r:id="rId6"/>
    <p:sldId id="321" r:id="rId7"/>
    <p:sldId id="322" r:id="rId8"/>
    <p:sldId id="323" r:id="rId9"/>
    <p:sldId id="325" r:id="rId10"/>
    <p:sldId id="324" r:id="rId11"/>
    <p:sldId id="326" r:id="rId12"/>
    <p:sldId id="30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2AFD8-AAE5-4459-8E9B-D7072A3FBC9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DC958-8E2A-4E9B-B55A-6961BF0D7EE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6D9EF-5D2B-4831-A665-475838A3A37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8ECBA-CC26-46BA-AB09-B921D99EAB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5064125" y="111125"/>
            <a:ext cx="2063750" cy="22790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810895" y="340995"/>
            <a:ext cx="9023350" cy="1331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Quiz Arena: Design and Development of an Interactive Quiz System to Improve Student Engagement and Learning Motivation for Senior High School</a:t>
            </a:r>
            <a:endParaRPr lang="en-US" altLang="en-US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PH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81505" y="3429000"/>
            <a:ext cx="58832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Aliparo, Margarette</a:t>
            </a:r>
            <a:endParaRPr lang="en-PH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PH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Azucena, Clarence</a:t>
            </a:r>
            <a:endParaRPr lang="en-PH" altLang="en-US"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PH" altLang="en-US" sz="2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Figuracion, John Glenn</a:t>
            </a:r>
            <a:endParaRPr lang="en-PH" altLang="en-US" sz="28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311910" y="2625090"/>
            <a:ext cx="39262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PH" altLang="en-US" sz="3200" b="1" dirty="0">
                <a:solidFill>
                  <a:schemeClr val="tx1"/>
                </a:solidFill>
                <a:latin typeface="Times New Roman" panose="02020603050405020304" charset="0"/>
                <a:ea typeface="Nunito Sans ExtraBold" charset="0"/>
                <a:cs typeface="Times New Roman" panose="02020603050405020304" charset="0"/>
                <a:sym typeface="+mn-lt"/>
              </a:rPr>
              <a:t>Member’s Name:</a:t>
            </a:r>
            <a:endParaRPr lang="en-PH" altLang="en-US" sz="3200" b="1" dirty="0">
              <a:solidFill>
                <a:schemeClr val="tx1"/>
              </a:solidFill>
              <a:latin typeface="Times New Roman" panose="02020603050405020304" charset="0"/>
              <a:ea typeface="Nunito Sans ExtraBold" charset="0"/>
              <a:cs typeface="Times New Roman" panose="02020603050405020304" charset="0"/>
              <a:sym typeface="+mn-lt"/>
            </a:endParaRPr>
          </a:p>
          <a:p>
            <a:endParaRPr lang="en-PH" altLang="en-US" sz="3200" b="1" dirty="0">
              <a:solidFill>
                <a:schemeClr val="tx1"/>
              </a:solidFill>
              <a:latin typeface="Times New Roman" panose="02020603050405020304" charset="0"/>
              <a:ea typeface="Nunito Sans ExtraBold" charset="0"/>
              <a:cs typeface="Times New Roman" panose="02020603050405020304" charset="0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1737360" y="1918970"/>
            <a:ext cx="88734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Traditional quizzes are often text-based and repetitive, which can reduce student interest and motivation to participate.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Low engagement in quizzes may lead to poor learning retention and decreased enthusiasm for studying.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An interactive quiz system with visuals, animations, and a user-friendly interface can make quizzes more engaging and enjoyable.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A scoring system encourages students to track their performance and strive for improvement.</a:t>
            </a:r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28215" y="906145"/>
            <a:ext cx="26816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Nunito Sans" charset="0"/>
                <a:cs typeface="Arial" panose="020B0604020202020204" pitchFamily="34" charset="0"/>
                <a:sym typeface="Arial" panose="020B0604020202020204" pitchFamily="34" charset="0"/>
              </a:rPr>
              <a:t>Rationale</a:t>
            </a:r>
            <a:endParaRPr lang="en-US" altLang="zh-CN" sz="3200" b="1" dirty="0">
              <a:solidFill>
                <a:schemeClr val="tx1"/>
              </a:solidFill>
              <a:latin typeface="Arial" panose="020B0604020202020204" pitchFamily="34" charset="0"/>
              <a:ea typeface="Nunito Sans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288925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Statement of the Problem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39445" y="958850"/>
            <a:ext cx="11106785" cy="342519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General Problem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Traditional classroom assessments often fail to sustain student interest and participation. Quiz Arena offers an innovative way to make learning more interactive, enjoyable, and meaningful for senior high school students.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Specific Problems: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Low student engagement in conventional assessments.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Limited motivation toward academic tasks.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PH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Teachers may find it difficult to adapt to new digital quiz systems due to unfamiliar features and lack of simple tools.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288925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Objective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39445" y="958850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General Objective:  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To design and develop Quiz Arena, an interactive quiz system that enhances student engagement and motivation.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Specific Objectives:</a:t>
            </a: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Evaluate its impact on student engagement through participation, attentiveness, and interaction, with automated feedback and performance tracking.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Enhanced student motivation via gamified elements that make quizzes more exciting and rewarding.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AutoNum type="arabicPeriod"/>
            </a:pPr>
            <a:r>
              <a:rPr lang="en-PH" alt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To design an interactive quiz system with a user-friendly interface that helps teachers easily create quizzes and integrate them into their teaching process.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The Existing System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5455" y="17887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existing system at CITI Global College relies on traditional paper-based or basic digital quizzes, where teachers manually prepare, check, and record scores—resulting in delayed feedback, heavier workload, and reduced student engagement.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5455" y="3013710"/>
            <a:ext cx="10342245" cy="1354455"/>
          </a:xfrm>
          <a:prstGeom prst="rect">
            <a:avLst/>
          </a:prstGeom>
        </p:spPr>
        <p:txBody>
          <a:bodyPr wrap="square">
            <a:noAutofit/>
          </a:bodyPr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The Proposed System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5455" y="17887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The proposed system, QuizArena, is a web-based interactive quiz platform that simplifies quiz creation, management, and participation.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It provides real-time feedback, gamification, and secure role-based access for administrators, teachers, and students.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5455" y="3013710"/>
            <a:ext cx="10342245" cy="1354455"/>
          </a:xfrm>
          <a:prstGeom prst="rect">
            <a:avLst/>
          </a:prstGeom>
        </p:spPr>
        <p:txBody>
          <a:bodyPr wrap="square">
            <a:noAutofit/>
          </a:bodyPr>
          <a:p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846955"/>
            <a:ext cx="11913870" cy="222885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4953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Overall Summ</a:t>
            </a:r>
            <a:r>
              <a:rPr lang="en-PH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a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ry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985" y="1017270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Problem: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Traditional paper-based quizzes at CITI Global College cause delayed feedback, heavy teacher workload, and low student engagement.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Objective: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Develop Quiz Arena, a web-based interactive quiz system to improve engagement, motivation, and teaching strategies.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Methodology: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Used surveys, interviews, and classroom observations; applied the </a:t>
            </a:r>
            <a:r>
              <a:rPr lang="en-PH" altLang="en-US" sz="2000">
                <a:latin typeface="Times New Roman" panose="02020603050405020304" charset="0"/>
                <a:cs typeface="Times New Roman" panose="02020603050405020304" charset="0"/>
              </a:rPr>
              <a:t>Current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Model for iterative design, testing, and refinement.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Existing System: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Manual quiz preparation, checking, and recording → time-consuming, error-prone, and unengaging.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Overall Summ</a:t>
            </a:r>
            <a:r>
              <a:rPr lang="en-PH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a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ry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985" y="1258570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Proposed System (QuizArena):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Role-based access for admins, teachers, and students; features include quiz builder, timed quizzes, leaderboards, real-time feedback, and automated scoring. Built with MongoDB, Node.js, JWT security, and Bootstrap UI.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Significance: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Students → more engaging, motivating quizzes.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Teachers → reduced workload, instant analytics.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Administrators → </a:t>
            </a:r>
            <a:r>
              <a:rPr lang="en-PH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an efficiently manage user accounts (students and teachers)..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3" name="Text Box 2"/>
          <p:cNvSpPr txBox="1"/>
          <p:nvPr/>
        </p:nvSpPr>
        <p:spPr>
          <a:xfrm>
            <a:off x="387985" y="736600"/>
            <a:ext cx="62585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Overall Summ</a:t>
            </a:r>
            <a:r>
              <a:rPr lang="en-PH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a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charset="0"/>
                <a:ea typeface="Nunito Sans" charset="0"/>
                <a:cs typeface="Times New Roman" panose="02020603050405020304" charset="0"/>
                <a:sym typeface="Arial" panose="020B0604020202020204" pitchFamily="34" charset="0"/>
              </a:rPr>
              <a:t>ry of the Study</a:t>
            </a:r>
            <a:endParaRPr lang="en-US" altLang="en-US" sz="2800" b="1" dirty="0">
              <a:solidFill>
                <a:schemeClr val="tx1"/>
              </a:solidFill>
              <a:latin typeface="Times New Roman" panose="02020603050405020304" charset="0"/>
              <a:ea typeface="Nunito Sans" charset="0"/>
              <a:cs typeface="Times New Roman" panose="02020603050405020304" charset="0"/>
              <a:sym typeface="Arial" panose="020B06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7985" y="1522095"/>
            <a:ext cx="10499725" cy="3299460"/>
          </a:xfrm>
          <a:prstGeom prst="rect">
            <a:avLst/>
          </a:prstGeom>
        </p:spPr>
        <p:txBody>
          <a:bodyPr wrap="square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Key Benefit:  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Transforms routine assessments into interactive, efficient, and motivating learning experiences.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grpSp>
        <p:nvGrpSpPr>
          <p:cNvPr id="9" name="Group 8"/>
          <p:cNvGrpSpPr/>
          <p:nvPr/>
        </p:nvGrpSpPr>
        <p:grpSpPr>
          <a:xfrm>
            <a:off x="159385" y="4653915"/>
            <a:ext cx="11741150" cy="2421890"/>
            <a:chOff x="251" y="7329"/>
            <a:chExt cx="18490" cy="3814"/>
          </a:xfrm>
        </p:grpSpPr>
        <p:pic>
          <p:nvPicPr>
            <p:cNvPr id="7" name="Picture 6" descr="CGC_logo-removebg-preview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51" y="7329"/>
              <a:ext cx="11828" cy="3814"/>
            </a:xfrm>
            <a:prstGeom prst="rect">
              <a:avLst/>
            </a:prstGeom>
          </p:spPr>
        </p:pic>
        <p:sp>
          <p:nvSpPr>
            <p:cNvPr id="8" name="Text Box 7"/>
            <p:cNvSpPr txBox="1"/>
            <p:nvPr/>
          </p:nvSpPr>
          <p:spPr>
            <a:xfrm>
              <a:off x="431" y="9643"/>
              <a:ext cx="9732" cy="1157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COLLEGE OF COMPUTER STUDIES 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  <a:p>
              <a:r>
                <a:rPr>
                  <a:solidFill>
                    <a:srgbClr val="000000"/>
                  </a:solidFill>
                  <a:latin typeface="Arial Black" panose="020B0A04020102020204" charset="0"/>
                  <a:ea typeface="LibreBaskerville"/>
                  <a:cs typeface="Arial Black" panose="020B0A04020102020204" charset="0"/>
                </a:rPr>
                <a:t>Bachelor of Science in Computer Science</a:t>
              </a:r>
              <a:endParaRPr>
                <a:solidFill>
                  <a:srgbClr val="000000"/>
                </a:solidFill>
                <a:latin typeface="Arial Black" panose="020B0A04020102020204" charset="0"/>
                <a:ea typeface="LibreBaskerville"/>
                <a:cs typeface="Arial Black" panose="020B0A04020102020204" charset="0"/>
              </a:endParaRPr>
            </a:p>
          </p:txBody>
        </p:sp>
        <p:pic>
          <p:nvPicPr>
            <p:cNvPr id="5" name="Picture 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6169" y="8008"/>
              <a:ext cx="2572" cy="2457"/>
            </a:xfrm>
            <a:prstGeom prst="rect">
              <a:avLst/>
            </a:prstGeom>
          </p:spPr>
        </p:pic>
      </p:grpSp>
      <p:sp>
        <p:nvSpPr>
          <p:cNvPr id="2" name="Text Box 1"/>
          <p:cNvSpPr txBox="1"/>
          <p:nvPr/>
        </p:nvSpPr>
        <p:spPr>
          <a:xfrm>
            <a:off x="2074545" y="1454150"/>
            <a:ext cx="761047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1500" b="1"/>
              <a:t>THANK YOU!</a:t>
            </a:r>
            <a:endParaRPr lang="en-US" sz="115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4082</Words>
  <Application>WPS Presentation</Application>
  <PresentationFormat>Widescreen</PresentationFormat>
  <Paragraphs>122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Arial Black</vt:lpstr>
      <vt:lpstr>LibreBaskerville</vt:lpstr>
      <vt:lpstr>Segoe Print</vt:lpstr>
      <vt:lpstr>Times New Roman</vt:lpstr>
      <vt:lpstr>Nunito Sans ExtraBold</vt:lpstr>
      <vt:lpstr>Calibri</vt:lpstr>
      <vt:lpstr>Nunito Sans</vt:lpstr>
      <vt:lpstr>Arial</vt:lpstr>
      <vt:lpstr>Microsoft YaHei</vt:lpstr>
      <vt:lpstr>Arial Unicode MS</vt:lpstr>
      <vt:lpstr>Calibri Light</vt:lpstr>
      <vt:lpstr>LibreBaskerville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RURU</dc:creator>
  <cp:lastModifiedBy>Eldi Ar</cp:lastModifiedBy>
  <cp:revision>107</cp:revision>
  <dcterms:created xsi:type="dcterms:W3CDTF">2021-03-17T01:40:00Z</dcterms:created>
  <dcterms:modified xsi:type="dcterms:W3CDTF">2026-03-14T12:51:28Z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C197DBBC87084EFC9A815BAC7BE1C0DB_13</vt:lpwstr>
  </property>
  <property fmtid="{D5CDD505-2E9C-101B-9397-08002B2CF9AE}" pid="3" name="KSOProductBuildVer">
    <vt:lpwstr>1033-12.1.0.24752</vt:lpwstr>
  </property>
</Properties>
</file>
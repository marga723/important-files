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9/18/2023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218AC-D1A4-44C5-8ED5-8D2F5ED1C638}"/>
              </a:ext>
            </a:extLst>
          </p:cNvPr>
          <p:cNvSpPr>
            <a:spLocks noGrp="1"/>
          </p:cNvSpPr>
          <p:nvPr>
            <p:ph type="ctrTitle"/>
          </p:nvPr>
        </p:nvSpPr>
        <p:spPr/>
        <p:txBody>
          <a:bodyPr>
            <a:normAutofit/>
          </a:bodyPr>
          <a:lstStyle/>
          <a:p>
            <a:r>
              <a:rPr lang="en-US" sz="5400" dirty="0">
                <a:latin typeface="Algerian" panose="04020705040A02060702" pitchFamily="82" charset="0"/>
              </a:rPr>
              <a:t>LAO BUDDHIST SCULPTURE</a:t>
            </a:r>
            <a:endParaRPr lang="en-PH" sz="5400" dirty="0">
              <a:latin typeface="Algerian" panose="04020705040A02060702" pitchFamily="82" charset="0"/>
            </a:endParaRPr>
          </a:p>
        </p:txBody>
      </p:sp>
      <p:sp>
        <p:nvSpPr>
          <p:cNvPr id="3" name="Subtitle 2">
            <a:extLst>
              <a:ext uri="{FF2B5EF4-FFF2-40B4-BE49-F238E27FC236}">
                <a16:creationId xmlns:a16="http://schemas.microsoft.com/office/drawing/2014/main" id="{33466144-E922-461A-9457-4D7394E299E6}"/>
              </a:ext>
            </a:extLst>
          </p:cNvPr>
          <p:cNvSpPr>
            <a:spLocks noGrp="1"/>
          </p:cNvSpPr>
          <p:nvPr>
            <p:ph type="subTitle" idx="1"/>
          </p:nvPr>
        </p:nvSpPr>
        <p:spPr/>
        <p:txBody>
          <a:bodyPr/>
          <a:lstStyle/>
          <a:p>
            <a:endParaRPr lang="en-PH" dirty="0"/>
          </a:p>
        </p:txBody>
      </p:sp>
    </p:spTree>
    <p:extLst>
      <p:ext uri="{BB962C8B-B14F-4D97-AF65-F5344CB8AC3E}">
        <p14:creationId xmlns:p14="http://schemas.microsoft.com/office/powerpoint/2010/main" val="341229337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B64A8-2BE7-43AC-938C-5BA4A5A31EA9}"/>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ARTIFACT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2BEDEBDE-120E-4B45-A4E4-176216ED2FF7}"/>
              </a:ext>
            </a:extLst>
          </p:cNvPr>
          <p:cNvSpPr>
            <a:spLocks noGrp="1"/>
          </p:cNvSpPr>
          <p:nvPr>
            <p:ph idx="1"/>
          </p:nvPr>
        </p:nvSpPr>
        <p:spPr>
          <a:xfrm>
            <a:off x="274734" y="2065866"/>
            <a:ext cx="9299572" cy="4603875"/>
          </a:xfrm>
        </p:spPr>
        <p:txBody>
          <a:bodyPr>
            <a:normAutofit fontScale="77500" lnSpcReduction="20000"/>
          </a:bodyPr>
          <a:lstStyle/>
          <a:p>
            <a:pPr>
              <a:buFont typeface="Wingdings" panose="05000000000000000000" pitchFamily="2" charset="2"/>
              <a:buChar char="Ø"/>
            </a:pPr>
            <a:r>
              <a:rPr lang="en-US" sz="3600" dirty="0">
                <a:solidFill>
                  <a:schemeClr val="tx1">
                    <a:lumMod val="95000"/>
                    <a:lumOff val="5000"/>
                  </a:schemeClr>
                </a:solidFill>
                <a:latin typeface="Arial Black" panose="020B0A04020102020204" pitchFamily="34" charset="0"/>
              </a:rPr>
              <a:t>Buddhist Sculpture were created by the lao people of South East Asia.</a:t>
            </a:r>
            <a:br>
              <a:rPr lang="en-US" sz="3600" dirty="0">
                <a:solidFill>
                  <a:schemeClr val="tx1">
                    <a:lumMod val="95000"/>
                    <a:lumOff val="5000"/>
                  </a:schemeClr>
                </a:solidFill>
                <a:latin typeface="Arial Black" panose="020B0A04020102020204" pitchFamily="34" charset="0"/>
              </a:rPr>
            </a:br>
            <a:endParaRPr lang="en-US" sz="3600" dirty="0">
              <a:solidFill>
                <a:schemeClr val="tx1">
                  <a:lumMod val="95000"/>
                  <a:lumOff val="5000"/>
                </a:schemeClr>
              </a:solidFill>
              <a:latin typeface="Arial Black" panose="020B0A04020102020204" pitchFamily="34" charset="0"/>
            </a:endParaRPr>
          </a:p>
          <a:p>
            <a:pPr>
              <a:buFont typeface="Wingdings" panose="05000000000000000000" pitchFamily="2" charset="2"/>
              <a:buChar char="Ø"/>
            </a:pPr>
            <a:r>
              <a:rPr lang="en-US" sz="3600" dirty="0">
                <a:solidFill>
                  <a:schemeClr val="tx1">
                    <a:lumMod val="95000"/>
                    <a:lumOff val="5000"/>
                  </a:schemeClr>
                </a:solidFill>
                <a:latin typeface="Arial Black" panose="020B0A04020102020204" pitchFamily="34" charset="0"/>
              </a:rPr>
              <a:t>They are typically made bronze, although gold and silver images can also be found.</a:t>
            </a:r>
            <a:br>
              <a:rPr lang="en-US" sz="3600" dirty="0">
                <a:latin typeface="Arial Black" panose="020B0A04020102020204" pitchFamily="34" charset="0"/>
              </a:rPr>
            </a:br>
            <a:endParaRPr lang="en-US" sz="3600" dirty="0">
              <a:latin typeface="Arial Black" panose="020B0A04020102020204" pitchFamily="34" charset="0"/>
            </a:endParaRPr>
          </a:p>
          <a:p>
            <a:pPr>
              <a:buFont typeface="Wingdings" panose="05000000000000000000" pitchFamily="2" charset="2"/>
              <a:buChar char="Ø"/>
            </a:pPr>
            <a:r>
              <a:rPr lang="en-US" sz="3600" dirty="0">
                <a:solidFill>
                  <a:schemeClr val="tx1">
                    <a:lumMod val="95000"/>
                    <a:lumOff val="5000"/>
                  </a:schemeClr>
                </a:solidFill>
                <a:latin typeface="Arial Black" panose="020B0A04020102020204" pitchFamily="34" charset="0"/>
              </a:rPr>
              <a:t>The vat </a:t>
            </a:r>
            <a:r>
              <a:rPr lang="en-US" sz="3600" dirty="0" err="1">
                <a:solidFill>
                  <a:schemeClr val="tx1">
                    <a:lumMod val="95000"/>
                    <a:lumOff val="5000"/>
                  </a:schemeClr>
                </a:solidFill>
                <a:latin typeface="Arial Black" panose="020B0A04020102020204" pitchFamily="34" charset="0"/>
              </a:rPr>
              <a:t>monorom</a:t>
            </a:r>
            <a:r>
              <a:rPr lang="en-US" sz="3600" dirty="0">
                <a:solidFill>
                  <a:schemeClr val="tx1">
                    <a:lumMod val="95000"/>
                    <a:lumOff val="5000"/>
                  </a:schemeClr>
                </a:solidFill>
                <a:latin typeface="Arial Black" panose="020B0A04020102020204" pitchFamily="34" charset="0"/>
              </a:rPr>
              <a:t> is believed to the oldest sculpture gardens of </a:t>
            </a:r>
            <a:r>
              <a:rPr lang="en-US" sz="3600" dirty="0" err="1">
                <a:solidFill>
                  <a:schemeClr val="tx1">
                    <a:lumMod val="95000"/>
                    <a:lumOff val="5000"/>
                  </a:schemeClr>
                </a:solidFill>
                <a:latin typeface="Arial Black" panose="020B0A04020102020204" pitchFamily="34" charset="0"/>
              </a:rPr>
              <a:t>Luang</a:t>
            </a:r>
            <a:r>
              <a:rPr lang="en-US" sz="3600" dirty="0">
                <a:solidFill>
                  <a:schemeClr val="tx1">
                    <a:lumMod val="95000"/>
                    <a:lumOff val="5000"/>
                  </a:schemeClr>
                </a:solidFill>
                <a:latin typeface="Arial Black" panose="020B0A04020102020204" pitchFamily="34" charset="0"/>
              </a:rPr>
              <a:t> Pu </a:t>
            </a:r>
            <a:r>
              <a:rPr lang="en-US" sz="3600" dirty="0" err="1">
                <a:solidFill>
                  <a:schemeClr val="tx1">
                    <a:lumMod val="95000"/>
                    <a:lumOff val="5000"/>
                  </a:schemeClr>
                </a:solidFill>
                <a:latin typeface="Arial Black" panose="020B0A04020102020204" pitchFamily="34" charset="0"/>
              </a:rPr>
              <a:t>Bunlea</a:t>
            </a:r>
            <a:r>
              <a:rPr lang="en-US" sz="3600" dirty="0">
                <a:solidFill>
                  <a:schemeClr val="tx1">
                    <a:lumMod val="95000"/>
                    <a:lumOff val="5000"/>
                  </a:schemeClr>
                </a:solidFill>
                <a:latin typeface="Arial Black" panose="020B0A04020102020204" pitchFamily="34" charset="0"/>
              </a:rPr>
              <a:t> </a:t>
            </a:r>
            <a:r>
              <a:rPr lang="en-US" sz="3600" dirty="0" err="1">
                <a:solidFill>
                  <a:schemeClr val="tx1">
                    <a:lumMod val="95000"/>
                    <a:lumOff val="5000"/>
                  </a:schemeClr>
                </a:solidFill>
                <a:latin typeface="Arial Black" panose="020B0A04020102020204" pitchFamily="34" charset="0"/>
              </a:rPr>
              <a:t>Sulilat</a:t>
            </a:r>
            <a:r>
              <a:rPr lang="en-US" sz="3600" dirty="0">
                <a:solidFill>
                  <a:schemeClr val="tx1">
                    <a:lumMod val="95000"/>
                    <a:lumOff val="5000"/>
                  </a:schemeClr>
                </a:solidFill>
                <a:latin typeface="Arial Black" panose="020B0A04020102020204" pitchFamily="34" charset="0"/>
              </a:rPr>
              <a:t> provide a modern twist to the ancient tradition.</a:t>
            </a:r>
          </a:p>
          <a:p>
            <a:pPr>
              <a:buFont typeface="Wingdings" panose="05000000000000000000" pitchFamily="2" charset="2"/>
              <a:buChar char="Ø"/>
            </a:pPr>
            <a:endParaRPr lang="en-PH" sz="3600" dirty="0">
              <a:latin typeface="Arial Black" panose="020B0A04020102020204" pitchFamily="34" charset="0"/>
            </a:endParaRPr>
          </a:p>
        </p:txBody>
      </p:sp>
      <p:pic>
        <p:nvPicPr>
          <p:cNvPr id="4" name="Picture 3">
            <a:extLst>
              <a:ext uri="{FF2B5EF4-FFF2-40B4-BE49-F238E27FC236}">
                <a16:creationId xmlns:a16="http://schemas.microsoft.com/office/drawing/2014/main" id="{80CABCD9-8EF2-4AD9-9EC3-9B1F881F7538}"/>
              </a:ext>
            </a:extLst>
          </p:cNvPr>
          <p:cNvPicPr>
            <a:picLocks noChangeAspect="1"/>
          </p:cNvPicPr>
          <p:nvPr/>
        </p:nvPicPr>
        <p:blipFill>
          <a:blip r:embed="rId2"/>
          <a:stretch>
            <a:fillRect/>
          </a:stretch>
        </p:blipFill>
        <p:spPr>
          <a:xfrm>
            <a:off x="9991165" y="0"/>
            <a:ext cx="2200835" cy="1714500"/>
          </a:xfrm>
          <a:prstGeom prst="rect">
            <a:avLst/>
          </a:prstGeom>
        </p:spPr>
      </p:pic>
      <p:pic>
        <p:nvPicPr>
          <p:cNvPr id="6" name="Picture 5">
            <a:extLst>
              <a:ext uri="{FF2B5EF4-FFF2-40B4-BE49-F238E27FC236}">
                <a16:creationId xmlns:a16="http://schemas.microsoft.com/office/drawing/2014/main" id="{87316DE0-A3F7-469E-9AB9-40210C2775FC}"/>
              </a:ext>
            </a:extLst>
          </p:cNvPr>
          <p:cNvPicPr>
            <a:picLocks noChangeAspect="1"/>
          </p:cNvPicPr>
          <p:nvPr/>
        </p:nvPicPr>
        <p:blipFill>
          <a:blip r:embed="rId3"/>
          <a:stretch>
            <a:fillRect/>
          </a:stretch>
        </p:blipFill>
        <p:spPr>
          <a:xfrm>
            <a:off x="9991165" y="2477621"/>
            <a:ext cx="2200835" cy="1714500"/>
          </a:xfrm>
          <a:prstGeom prst="rect">
            <a:avLst/>
          </a:prstGeom>
        </p:spPr>
      </p:pic>
      <p:pic>
        <p:nvPicPr>
          <p:cNvPr id="7" name="Picture 6">
            <a:extLst>
              <a:ext uri="{FF2B5EF4-FFF2-40B4-BE49-F238E27FC236}">
                <a16:creationId xmlns:a16="http://schemas.microsoft.com/office/drawing/2014/main" id="{AA71FBBF-94E6-4BF7-BEC6-873EC1C9ACFC}"/>
              </a:ext>
            </a:extLst>
          </p:cNvPr>
          <p:cNvPicPr>
            <a:picLocks noChangeAspect="1"/>
          </p:cNvPicPr>
          <p:nvPr/>
        </p:nvPicPr>
        <p:blipFill>
          <a:blip r:embed="rId4"/>
          <a:stretch>
            <a:fillRect/>
          </a:stretch>
        </p:blipFill>
        <p:spPr>
          <a:xfrm>
            <a:off x="10019180" y="4955242"/>
            <a:ext cx="2172820" cy="1714500"/>
          </a:xfrm>
          <a:prstGeom prst="rect">
            <a:avLst/>
          </a:prstGeom>
        </p:spPr>
      </p:pic>
    </p:spTree>
    <p:extLst>
      <p:ext uri="{BB962C8B-B14F-4D97-AF65-F5344CB8AC3E}">
        <p14:creationId xmlns:p14="http://schemas.microsoft.com/office/powerpoint/2010/main" val="9597625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EF7C-D957-4199-9E51-30397A9955FA}"/>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SOCIOFACT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71CA6E16-D50C-41F3-822D-AA2F0AD84D03}"/>
              </a:ext>
            </a:extLst>
          </p:cNvPr>
          <p:cNvSpPr>
            <a:spLocks noGrp="1"/>
          </p:cNvSpPr>
          <p:nvPr>
            <p:ph idx="1"/>
          </p:nvPr>
        </p:nvSpPr>
        <p:spPr>
          <a:xfrm>
            <a:off x="685801" y="2142067"/>
            <a:ext cx="8780928" cy="4218392"/>
          </a:xfrm>
        </p:spPr>
        <p:txBody>
          <a:bodyPr>
            <a:noAutofit/>
          </a:bodyPr>
          <a:lstStyle/>
          <a:p>
            <a:pPr>
              <a:buFont typeface="Wingdings" panose="05000000000000000000" pitchFamily="2" charset="2"/>
              <a:buChar char="Ø"/>
            </a:pPr>
            <a:r>
              <a:rPr lang="en-US" sz="3200" dirty="0">
                <a:latin typeface="Arial Black" panose="020B0A04020102020204" pitchFamily="34" charset="0"/>
              </a:rPr>
              <a:t>Not only do the statues and images of buddha serve as physical representations or depictions on how buddha </a:t>
            </a:r>
            <a:r>
              <a:rPr lang="en-US" sz="3200" dirty="0" err="1">
                <a:latin typeface="Arial Black" panose="020B0A04020102020204" pitchFamily="34" charset="0"/>
              </a:rPr>
              <a:t>appeard</a:t>
            </a:r>
            <a:r>
              <a:rPr lang="en-US" sz="3200" dirty="0">
                <a:latin typeface="Arial Black" panose="020B0A04020102020204" pitchFamily="34" charset="0"/>
              </a:rPr>
              <a:t> in his physical form, but they also serve as symbols of Buddha's </a:t>
            </a:r>
            <a:r>
              <a:rPr lang="en-US" sz="3200" dirty="0" err="1">
                <a:latin typeface="Arial Black" panose="020B0A04020102020204" pitchFamily="34" charset="0"/>
              </a:rPr>
              <a:t>teaching,good</a:t>
            </a:r>
            <a:r>
              <a:rPr lang="en-US" sz="3200" dirty="0">
                <a:latin typeface="Arial Black" panose="020B0A04020102020204" pitchFamily="34" charset="0"/>
              </a:rPr>
              <a:t> fortune, inner peace, and the motivating force that should be present in every human being.</a:t>
            </a:r>
            <a:endParaRPr lang="en-PH" sz="3200" dirty="0">
              <a:latin typeface="Arial Black" panose="020B0A04020102020204" pitchFamily="34" charset="0"/>
            </a:endParaRPr>
          </a:p>
        </p:txBody>
      </p:sp>
      <p:pic>
        <p:nvPicPr>
          <p:cNvPr id="4" name="Picture 3">
            <a:extLst>
              <a:ext uri="{FF2B5EF4-FFF2-40B4-BE49-F238E27FC236}">
                <a16:creationId xmlns:a16="http://schemas.microsoft.com/office/drawing/2014/main" id="{BAC7AD86-D133-454D-9E94-E056F8ED5E9E}"/>
              </a:ext>
            </a:extLst>
          </p:cNvPr>
          <p:cNvPicPr>
            <a:picLocks noChangeAspect="1"/>
          </p:cNvPicPr>
          <p:nvPr/>
        </p:nvPicPr>
        <p:blipFill>
          <a:blip r:embed="rId2"/>
          <a:stretch>
            <a:fillRect/>
          </a:stretch>
        </p:blipFill>
        <p:spPr>
          <a:xfrm>
            <a:off x="9036424" y="-40341"/>
            <a:ext cx="3155576" cy="3590365"/>
          </a:xfrm>
          <a:prstGeom prst="rect">
            <a:avLst/>
          </a:prstGeom>
        </p:spPr>
      </p:pic>
    </p:spTree>
    <p:extLst>
      <p:ext uri="{BB962C8B-B14F-4D97-AF65-F5344CB8AC3E}">
        <p14:creationId xmlns:p14="http://schemas.microsoft.com/office/powerpoint/2010/main" val="19401600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9947-4455-4D44-803B-323384239B09}"/>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MENTIFACT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E6032EF1-75A9-46A8-BB72-19D575320FB0}"/>
              </a:ext>
            </a:extLst>
          </p:cNvPr>
          <p:cNvSpPr>
            <a:spLocks noGrp="1"/>
          </p:cNvSpPr>
          <p:nvPr>
            <p:ph idx="1"/>
          </p:nvPr>
        </p:nvSpPr>
        <p:spPr>
          <a:xfrm>
            <a:off x="685801" y="2138083"/>
            <a:ext cx="8767481" cy="5114862"/>
          </a:xfrm>
        </p:spPr>
        <p:txBody>
          <a:bodyPr>
            <a:normAutofit lnSpcReduction="10000"/>
          </a:bodyPr>
          <a:lstStyle/>
          <a:p>
            <a:pPr>
              <a:buFont typeface="Wingdings" panose="05000000000000000000" pitchFamily="2" charset="2"/>
              <a:buChar char="Ø"/>
            </a:pPr>
            <a:r>
              <a:rPr lang="en-US" sz="2800" dirty="0">
                <a:latin typeface="Arial Black" panose="020B0A04020102020204" pitchFamily="34" charset="0"/>
              </a:rPr>
              <a:t>People believe that the Lao Buddhist Sculpture Theravada Buddhism is that dominant religion of the ethnic or "lowland" Lao, who constitute 53.2 percent of the overall population</a:t>
            </a:r>
            <a:r>
              <a:rPr lang="en-US" dirty="0"/>
              <a:t>.</a:t>
            </a:r>
            <a:br>
              <a:rPr lang="en-US" dirty="0"/>
            </a:br>
            <a:endParaRPr lang="en-US" dirty="0"/>
          </a:p>
          <a:p>
            <a:pPr>
              <a:buFont typeface="Wingdings" panose="05000000000000000000" pitchFamily="2" charset="2"/>
              <a:buChar char="Ø"/>
            </a:pPr>
            <a:r>
              <a:rPr lang="en-US" sz="3200" dirty="0">
                <a:latin typeface="Arial Black" panose="020B0A04020102020204" pitchFamily="34" charset="0"/>
              </a:rPr>
              <a:t>Theravada Buddhism, as a </a:t>
            </a:r>
            <a:r>
              <a:rPr lang="en-US" sz="3200" dirty="0" err="1">
                <a:latin typeface="Arial Black" panose="020B0A04020102020204" pitchFamily="34" charset="0"/>
              </a:rPr>
              <a:t>practised</a:t>
            </a:r>
            <a:r>
              <a:rPr lang="en-US" sz="3200" dirty="0">
                <a:latin typeface="Arial Black" panose="020B0A04020102020204" pitchFamily="34" charset="0"/>
              </a:rPr>
              <a:t> in Laos, borrows elements from animism(or spirit worship)of animism in Laos are ancestor worship and a belief that spirits inhabit all objects.</a:t>
            </a:r>
          </a:p>
          <a:p>
            <a:pPr>
              <a:buFont typeface="Wingdings" panose="05000000000000000000" pitchFamily="2" charset="2"/>
              <a:buChar char="Ø"/>
            </a:pPr>
            <a:endParaRPr lang="en-US" dirty="0"/>
          </a:p>
          <a:p>
            <a:pPr>
              <a:buFont typeface="Wingdings" panose="05000000000000000000" pitchFamily="2" charset="2"/>
              <a:buChar char="Ø"/>
            </a:pPr>
            <a:endParaRPr lang="en-PH" sz="3200" dirty="0">
              <a:latin typeface="Arial Black" panose="020B0A04020102020204" pitchFamily="34" charset="0"/>
            </a:endParaRPr>
          </a:p>
        </p:txBody>
      </p:sp>
      <p:pic>
        <p:nvPicPr>
          <p:cNvPr id="4" name="Picture 3">
            <a:extLst>
              <a:ext uri="{FF2B5EF4-FFF2-40B4-BE49-F238E27FC236}">
                <a16:creationId xmlns:a16="http://schemas.microsoft.com/office/drawing/2014/main" id="{F47DE2EA-348E-4A90-998F-4D27921814F5}"/>
              </a:ext>
            </a:extLst>
          </p:cNvPr>
          <p:cNvPicPr>
            <a:picLocks noChangeAspect="1"/>
          </p:cNvPicPr>
          <p:nvPr/>
        </p:nvPicPr>
        <p:blipFill>
          <a:blip r:embed="rId2"/>
          <a:stretch>
            <a:fillRect/>
          </a:stretch>
        </p:blipFill>
        <p:spPr>
          <a:xfrm>
            <a:off x="8592671" y="0"/>
            <a:ext cx="3599329" cy="4224058"/>
          </a:xfrm>
          <a:prstGeom prst="rect">
            <a:avLst/>
          </a:prstGeom>
        </p:spPr>
      </p:pic>
    </p:spTree>
    <p:extLst>
      <p:ext uri="{BB962C8B-B14F-4D97-AF65-F5344CB8AC3E}">
        <p14:creationId xmlns:p14="http://schemas.microsoft.com/office/powerpoint/2010/main" val="2104825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CAAE-71DD-4DDF-AA9D-CD554DC33FE3}"/>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EDUCATIONAL IMPACT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6C846F70-25A7-4F02-AA7C-7810D3808E52}"/>
              </a:ext>
            </a:extLst>
          </p:cNvPr>
          <p:cNvSpPr>
            <a:spLocks noGrp="1"/>
          </p:cNvSpPr>
          <p:nvPr>
            <p:ph idx="1"/>
          </p:nvPr>
        </p:nvSpPr>
        <p:spPr>
          <a:xfrm>
            <a:off x="685801" y="2142067"/>
            <a:ext cx="7974105" cy="4106333"/>
          </a:xfrm>
        </p:spPr>
        <p:txBody>
          <a:bodyPr>
            <a:normAutofit lnSpcReduction="10000"/>
          </a:bodyPr>
          <a:lstStyle/>
          <a:p>
            <a:pPr>
              <a:buFont typeface="Wingdings" panose="05000000000000000000" pitchFamily="2" charset="2"/>
              <a:buChar char="Ø"/>
            </a:pPr>
            <a:r>
              <a:rPr lang="en-US" sz="3600" dirty="0">
                <a:latin typeface="Arial Black" panose="020B0A04020102020204" pitchFamily="34" charset="0"/>
              </a:rPr>
              <a:t>For us Lao Buddhist Sculpture is big impact that we can show what we can do not only what you think of us and we can show it more clearly and understand that we can motivate ourselves to other people.</a:t>
            </a:r>
            <a:endParaRPr lang="en-PH" sz="3600" dirty="0">
              <a:latin typeface="Arial Black" panose="020B0A04020102020204" pitchFamily="34" charset="0"/>
            </a:endParaRPr>
          </a:p>
        </p:txBody>
      </p:sp>
      <p:pic>
        <p:nvPicPr>
          <p:cNvPr id="5" name="Picture 4">
            <a:extLst>
              <a:ext uri="{FF2B5EF4-FFF2-40B4-BE49-F238E27FC236}">
                <a16:creationId xmlns:a16="http://schemas.microsoft.com/office/drawing/2014/main" id="{8A7DEF49-F9F5-4EC3-8364-AAB38F8D2975}"/>
              </a:ext>
            </a:extLst>
          </p:cNvPr>
          <p:cNvPicPr>
            <a:picLocks noChangeAspect="1"/>
          </p:cNvPicPr>
          <p:nvPr/>
        </p:nvPicPr>
        <p:blipFill>
          <a:blip r:embed="rId2"/>
          <a:stretch>
            <a:fillRect/>
          </a:stretch>
        </p:blipFill>
        <p:spPr>
          <a:xfrm>
            <a:off x="8659906" y="0"/>
            <a:ext cx="3666565" cy="4706471"/>
          </a:xfrm>
          <a:prstGeom prst="rect">
            <a:avLst/>
          </a:prstGeom>
        </p:spPr>
      </p:pic>
    </p:spTree>
    <p:extLst>
      <p:ext uri="{BB962C8B-B14F-4D97-AF65-F5344CB8AC3E}">
        <p14:creationId xmlns:p14="http://schemas.microsoft.com/office/powerpoint/2010/main" val="28619739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9E791-9960-4958-9144-0FA4549EE8FD}"/>
              </a:ext>
            </a:extLst>
          </p:cNvPr>
          <p:cNvSpPr>
            <a:spLocks noGrp="1"/>
          </p:cNvSpPr>
          <p:nvPr>
            <p:ph type="title"/>
          </p:nvPr>
        </p:nvSpPr>
        <p:spPr/>
        <p:txBody>
          <a:bodyPr>
            <a:normAutofit/>
          </a:bodyPr>
          <a:lstStyle/>
          <a:p>
            <a:pPr marL="685800" indent="-685800">
              <a:buFont typeface="Wingdings" panose="05000000000000000000" pitchFamily="2" charset="2"/>
              <a:buChar char="q"/>
            </a:pPr>
            <a:r>
              <a:rPr lang="en-US" sz="5400" dirty="0">
                <a:latin typeface="Arial Rounded MT Bold" panose="020F0704030504030204" pitchFamily="34" charset="0"/>
              </a:rPr>
              <a:t>OWNERS</a:t>
            </a:r>
            <a:endParaRPr lang="en-PH" sz="5400"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7D736350-A63B-40BC-9D88-E807FC2B45EB}"/>
              </a:ext>
            </a:extLst>
          </p:cNvPr>
          <p:cNvSpPr>
            <a:spLocks noGrp="1"/>
          </p:cNvSpPr>
          <p:nvPr>
            <p:ph idx="1"/>
          </p:nvPr>
        </p:nvSpPr>
        <p:spPr/>
        <p:txBody>
          <a:bodyPr>
            <a:normAutofit/>
          </a:bodyPr>
          <a:lstStyle/>
          <a:p>
            <a:pPr>
              <a:buFont typeface="Wingdings" panose="05000000000000000000" pitchFamily="2" charset="2"/>
              <a:buChar char="v"/>
            </a:pPr>
            <a:r>
              <a:rPr lang="en-US" sz="6000" dirty="0">
                <a:latin typeface="Bernard MT Condensed" panose="02050806060905020404" pitchFamily="18" charset="0"/>
              </a:rPr>
              <a:t>JOAN QUIERRE</a:t>
            </a:r>
          </a:p>
          <a:p>
            <a:pPr>
              <a:buFont typeface="Wingdings" panose="05000000000000000000" pitchFamily="2" charset="2"/>
              <a:buChar char="v"/>
            </a:pPr>
            <a:r>
              <a:rPr lang="en-US" sz="6000" dirty="0">
                <a:latin typeface="Bernard MT Condensed" panose="02050806060905020404" pitchFamily="18" charset="0"/>
              </a:rPr>
              <a:t>REGINE MACALLAN</a:t>
            </a:r>
          </a:p>
          <a:p>
            <a:pPr>
              <a:buFont typeface="Wingdings" panose="05000000000000000000" pitchFamily="2" charset="2"/>
              <a:buChar char="v"/>
            </a:pPr>
            <a:r>
              <a:rPr lang="en-US" sz="6000" dirty="0">
                <a:latin typeface="Bernard MT Condensed" panose="02050806060905020404" pitchFamily="18" charset="0"/>
              </a:rPr>
              <a:t>ROBERT FERNANDEZ</a:t>
            </a:r>
            <a:endParaRPr lang="en-PH" sz="6000" dirty="0">
              <a:latin typeface="Bernard MT Condensed" panose="02050806060905020404" pitchFamily="18" charset="0"/>
            </a:endParaRPr>
          </a:p>
        </p:txBody>
      </p:sp>
    </p:spTree>
    <p:extLst>
      <p:ext uri="{BB962C8B-B14F-4D97-AF65-F5344CB8AC3E}">
        <p14:creationId xmlns:p14="http://schemas.microsoft.com/office/powerpoint/2010/main" val="4389101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28</TotalTime>
  <Words>230</Words>
  <Application>Microsoft Office PowerPoint</Application>
  <PresentationFormat>Widescreen</PresentationFormat>
  <Paragraphs>16</Paragraphs>
  <Slides>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Algerian</vt:lpstr>
      <vt:lpstr>Arial</vt:lpstr>
      <vt:lpstr>Arial Black</vt:lpstr>
      <vt:lpstr>Arial Rounded MT Bold</vt:lpstr>
      <vt:lpstr>Bernard MT Condensed</vt:lpstr>
      <vt:lpstr>Calibri</vt:lpstr>
      <vt:lpstr>Calibri Light</vt:lpstr>
      <vt:lpstr>Wingdings</vt:lpstr>
      <vt:lpstr>Celestial</vt:lpstr>
      <vt:lpstr>LAO BUDDHIST SCULPTURE</vt:lpstr>
      <vt:lpstr>ARTIFACT</vt:lpstr>
      <vt:lpstr>SOCIOFACT</vt:lpstr>
      <vt:lpstr>MENTIFACT</vt:lpstr>
      <vt:lpstr>EDUCATIONAL IMPACT</vt:lpstr>
      <vt:lpstr>OWNERS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LAO BUDDHIST SCULPTURE</dc:title>
  <dc:creator>HP</dc:creator>
  <cp:lastModifiedBy>HP</cp:lastModifiedBy>
  <cp:revision>4</cp:revision>
  <dcterms:created xsi:type="dcterms:W3CDTF">2023-09-18T07:08:13Z</dcterms:created>
  <dcterms:modified xsi:type="dcterms:W3CDTF">2023-09-18T07:37:07Z</dcterms:modified>
</cp:coreProperties>
</file>